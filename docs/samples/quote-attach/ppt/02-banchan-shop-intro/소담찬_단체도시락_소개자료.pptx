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embeddedFontLst>
    <p:embeddedFont>
      <p:font typeface="Pretendard" pitchFamily="2" charset="-127"/>
      <p:regular r:id="rIdSwanFont1"/>
      <p:bold r:id="rIdSwanFont2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SwanFont1" Type="http://schemas.openxmlformats.org/officeDocument/2006/relationships/font" Target="fonts/font1.fntdata"/><Relationship Id="rIdSwanFont2" Type="http://schemas.openxmlformats.org/officeDocument/2006/relationships/font" Target="fonts/font2.fntdata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단체 주문</c:v>
                </c:pt>
              </c:strCache>
            </c:strRef>
          </c:tx>
          <c:spPr>
            <a:solidFill>
              <a:srgbClr val="27466A"/>
            </a:solidFill>
            <a:ln w="38100" cap="flat">
              <a:solidFill>
                <a:srgbClr val="27466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444444"/>
                    </a:solidFill>
                    <a:latin typeface="Pretendard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9"/>
            <c:spPr>
              <a:solidFill>
                <a:srgbClr val="27466A"/>
              </a:solidFill>
              <a:ln w="9525" cap="flat">
                <a:solidFill>
                  <a:srgbClr val="27466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25.10</c:v>
                  </c:pt>
                  <c:pt idx="1">
                    <c:v>25.11</c:v>
                  </c:pt>
                  <c:pt idx="2">
                    <c:v>25.12</c:v>
                  </c:pt>
                  <c:pt idx="3">
                    <c:v>26.1</c:v>
                  </c:pt>
                  <c:pt idx="4">
                    <c:v>26.2</c:v>
                  </c:pt>
                  <c:pt idx="5">
                    <c:v>26.3</c:v>
                  </c:pt>
                  <c:pt idx="6">
                    <c:v>26.4</c:v>
                  </c:pt>
                  <c:pt idx="7">
                    <c:v>26.5</c:v>
                  </c:pt>
                  <c:pt idx="8">
                    <c:v>26.6</c:v>
                  </c:pt>
                  <c:pt idx="9">
                    <c:v>26.7</c:v>
                  </c:pt>
                  <c:pt idx="10">
                    <c:v>26.8</c:v>
                  </c:pt>
                  <c:pt idx="11">
                    <c:v>26.9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21</c:v>
                </c:pt>
                <c:pt idx="1">
                  <c:v>23</c:v>
                </c:pt>
                <c:pt idx="2">
                  <c:v>26</c:v>
                </c:pt>
                <c:pt idx="3">
                  <c:v>25</c:v>
                </c:pt>
                <c:pt idx="4">
                  <c:v>28</c:v>
                </c:pt>
                <c:pt idx="5">
                  <c:v>30</c:v>
                </c:pt>
                <c:pt idx="6">
                  <c:v>33</c:v>
                </c:pt>
                <c:pt idx="7">
                  <c:v>35</c:v>
                </c:pt>
                <c:pt idx="8">
                  <c:v>38</c:v>
                </c:pt>
                <c:pt idx="9">
                  <c:v>36</c:v>
                </c:pt>
                <c:pt idx="10">
                  <c:v>41</c:v>
                </c:pt>
                <c:pt idx="11">
                  <c:v>44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444444"/>
                  </a:solidFill>
                  <a:latin typeface="Pretendard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5555"/>
                </a:solidFill>
                <a:latin typeface="Pretendard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0"/>
          <c:min val="0"/>
        </c:scaling>
        <c:delete val="1"/>
        <c:axPos val="l"/>
        <c:majorGridlines>
          <c:spPr>
            <a:ln w="6350" cap="flat">
              <a:solidFill>
                <a:srgbClr val="EEEE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표지. 가게 이름·숫자·전화번호는 모두 가상입니다(swan 샘플).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7466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0" y="1234440"/>
            <a:ext cx="3291840" cy="329184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40080" y="14173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9D6E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동네 반찬가게 소담찬(가상)</a:t>
            </a:r>
            <a:endParaRPr lang="en-US" sz="18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1965960"/>
            <a:ext cx="7498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단체 도시락·반찬</a:t>
            </a:r>
            <a:endParaRPr lang="en-US" sz="5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배달 안내</a:t>
            </a:r>
            <a:endParaRPr lang="en-US" sz="5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411480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9D6E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사무실 점심, 교회·모임 식사를 맡겨 주세요 · 2026년 10월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FA6C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swan · 직접 만든 예시(가상 자료)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1100297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6C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11년째 같은 자리에서 반찬을 만듭니다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8872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2016년에 문을 연 동네 반찬가게입니다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3429000" cy="2834640"/>
          </a:xfrm>
          <a:prstGeom prst="roundRect">
            <a:avLst>
              <a:gd name="adj" fmla="val 3871"/>
            </a:avLst>
          </a:prstGeom>
          <a:solidFill>
            <a:srgbClr val="EDF2F7"/>
          </a:solidFill>
          <a:ln w="12700">
            <a:solidFill>
              <a:srgbClr val="EDF2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60120" y="237744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746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같은 자리에서 영업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880360"/>
            <a:ext cx="2788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11년째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3977640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2016년부터 한 번도 옮기지 않았습니다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343400" y="2011680"/>
            <a:ext cx="3429000" cy="2834640"/>
          </a:xfrm>
          <a:prstGeom prst="roundRect">
            <a:avLst>
              <a:gd name="adj" fmla="val 3871"/>
            </a:avLst>
          </a:prstGeom>
          <a:solidFill>
            <a:srgbClr val="EDF2F7"/>
          </a:solidFill>
          <a:ln w="12700">
            <a:solidFill>
              <a:srgbClr val="EDF2F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663440" y="237744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746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매일 만드는 반찬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4663440" y="2880360"/>
            <a:ext cx="2788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24가지</a:t>
            </a:r>
            <a:endParaRPr lang="en-US" sz="4400" dirty="0"/>
          </a:p>
        </p:txBody>
      </p:sp>
      <p:sp>
        <p:nvSpPr>
          <p:cNvPr id="11" name="Text 9"/>
          <p:cNvSpPr txBox="1"/>
          <p:nvPr/>
        </p:nvSpPr>
        <p:spPr>
          <a:xfrm>
            <a:off x="4663440" y="3977640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그날 아침에 만든 반찬만 팝니다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046720" y="2011680"/>
            <a:ext cx="3429000" cy="2834640"/>
          </a:xfrm>
          <a:prstGeom prst="roundRect">
            <a:avLst>
              <a:gd name="adj" fmla="val 3871"/>
            </a:avLst>
          </a:prstGeom>
          <a:solidFill>
            <a:srgbClr val="EDF2F7"/>
          </a:solidFill>
          <a:ln w="12700">
            <a:solidFill>
              <a:srgbClr val="EDF2F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366760" y="237744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746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정기 주문 거래처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8366760" y="2880360"/>
            <a:ext cx="2788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18곳</a:t>
            </a:r>
            <a:endParaRPr lang="en-US" sz="4400" dirty="0"/>
          </a:p>
        </p:txBody>
      </p:sp>
      <p:sp>
        <p:nvSpPr>
          <p:cNvPr id="15" name="Text 13"/>
          <p:cNvSpPr txBox="1"/>
          <p:nvPr/>
        </p:nvSpPr>
        <p:spPr>
          <a:xfrm>
            <a:off x="8366760" y="3977640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사무실·교회·경로당 등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52578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사장 1명과 조리 직원 2명이 매일 아침 6시부터 그날 나갈 반찬과 도시락을 만듭니다.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swan · 직접 만든 예시(가상 자료)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1100297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이런 곳에서 주문하십니다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8872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정기 주문 거래처 18곳의 종류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2560320" cy="28803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" y="2468880"/>
            <a:ext cx="914400" cy="914400"/>
          </a:xfrm>
          <a:prstGeom prst="ellipse">
            <a:avLst/>
          </a:prstGeom>
          <a:solidFill>
            <a:srgbClr val="27466A"/>
          </a:solidFill>
          <a:ln w="12700">
            <a:solidFill>
              <a:srgbClr val="27466A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8720" y="2697480"/>
            <a:ext cx="457200" cy="4572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960120" y="37033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사무실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960120" y="425196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평일 점심, 회의·야근 식사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3410712" y="2103120"/>
            <a:ext cx="2560320" cy="28803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730752" y="2468880"/>
            <a:ext cx="914400" cy="914400"/>
          </a:xfrm>
          <a:prstGeom prst="ellipse">
            <a:avLst/>
          </a:prstGeom>
          <a:solidFill>
            <a:srgbClr val="27466A"/>
          </a:solidFill>
          <a:ln w="12700">
            <a:solidFill>
              <a:srgbClr val="27466A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9352" y="269748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730752" y="37033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교회·성당</a:t>
            </a:r>
            <a:endParaRPr lang="en-US" sz="2200" dirty="0"/>
          </a:p>
        </p:txBody>
      </p:sp>
      <p:sp>
        <p:nvSpPr>
          <p:cNvPr id="13" name="Text 9"/>
          <p:cNvSpPr txBox="1"/>
          <p:nvPr/>
        </p:nvSpPr>
        <p:spPr>
          <a:xfrm>
            <a:off x="3730752" y="425196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주일 점심, 행사 식사</a:t>
            </a:r>
            <a:endParaRPr lang="en-US" sz="1500" dirty="0"/>
          </a:p>
        </p:txBody>
      </p:sp>
      <p:sp>
        <p:nvSpPr>
          <p:cNvPr id="14" name="Shape 10"/>
          <p:cNvSpPr/>
          <p:nvPr/>
        </p:nvSpPr>
        <p:spPr>
          <a:xfrm>
            <a:off x="6181344" y="2103120"/>
            <a:ext cx="2560320" cy="28803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501384" y="2468880"/>
            <a:ext cx="914400" cy="914400"/>
          </a:xfrm>
          <a:prstGeom prst="ellipse">
            <a:avLst/>
          </a:prstGeom>
          <a:solidFill>
            <a:srgbClr val="27466A"/>
          </a:solidFill>
          <a:ln w="12700">
            <a:solidFill>
              <a:srgbClr val="27466A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9984" y="2697480"/>
            <a:ext cx="457200" cy="45720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501384" y="37033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경로당·복지관</a:t>
            </a:r>
            <a:endParaRPr lang="en-US" sz="2200" dirty="0"/>
          </a:p>
        </p:txBody>
      </p:sp>
      <p:sp>
        <p:nvSpPr>
          <p:cNvPr id="18" name="Text 13"/>
          <p:cNvSpPr txBox="1"/>
          <p:nvPr/>
        </p:nvSpPr>
        <p:spPr>
          <a:xfrm>
            <a:off x="6501384" y="425196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반찬 정기 배달</a:t>
            </a:r>
            <a:endParaRPr lang="en-US" sz="1500" dirty="0"/>
          </a:p>
        </p:txBody>
      </p:sp>
      <p:sp>
        <p:nvSpPr>
          <p:cNvPr id="19" name="Shape 14"/>
          <p:cNvSpPr/>
          <p:nvPr/>
        </p:nvSpPr>
        <p:spPr>
          <a:xfrm>
            <a:off x="8951976" y="2103120"/>
            <a:ext cx="2560320" cy="28803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9272016" y="2468880"/>
            <a:ext cx="914400" cy="914400"/>
          </a:xfrm>
          <a:prstGeom prst="ellipse">
            <a:avLst/>
          </a:prstGeom>
          <a:solidFill>
            <a:srgbClr val="27466A"/>
          </a:solidFill>
          <a:ln w="12700">
            <a:solidFill>
              <a:srgbClr val="27466A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00616" y="2697480"/>
            <a:ext cx="457200" cy="45720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9272016" y="37033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학원·어린이집</a:t>
            </a:r>
            <a:endParaRPr lang="en-US" sz="2200" dirty="0"/>
          </a:p>
        </p:txBody>
      </p:sp>
      <p:sp>
        <p:nvSpPr>
          <p:cNvPr id="23" name="Text 17"/>
          <p:cNvSpPr txBox="1"/>
          <p:nvPr/>
        </p:nvSpPr>
        <p:spPr>
          <a:xfrm>
            <a:off x="9272016" y="425196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선생님 점심 식사</a:t>
            </a:r>
            <a:endParaRPr lang="en-US" sz="1500" dirty="0"/>
          </a:p>
        </p:txBody>
      </p:sp>
      <p:sp>
        <p:nvSpPr>
          <p:cNvPr id="24" name="Text 18"/>
          <p:cNvSpPr txBox="1"/>
          <p:nvPr/>
        </p:nvSpPr>
        <p:spPr>
          <a:xfrm>
            <a:off x="64008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swan · 직접 만든 예시(가상 자료)</a:t>
            </a:r>
            <a:endParaRPr lang="en-US" sz="1000" dirty="0"/>
          </a:p>
        </p:txBody>
      </p:sp>
      <p:sp>
        <p:nvSpPr>
          <p:cNvPr id="25" name="Text 19"/>
          <p:cNvSpPr txBox="1"/>
          <p:nvPr/>
        </p:nvSpPr>
        <p:spPr>
          <a:xfrm>
            <a:off x="1100297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메뉴와 가격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8872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부가세 포함 · 메뉴 속 반찬은 매주 바뀝니다</a:t>
            </a:r>
            <a:endParaRPr lang="en-US" sz="15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920240"/>
          <a:ext cx="722376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3291840"/>
                <a:gridCol w="1828800"/>
              </a:tblGrid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메뉴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3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466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구성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3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466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가격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3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466A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기본 도시락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3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밥 · 국 · 반찬 4가지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3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700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8,000원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3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든든 도시락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3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밥 · 국 · 반찬 4가지 · 고기 요리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3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700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10,000원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3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행사용 반찬 모둠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3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반찬 6가지 · 10명분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3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700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90,000원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3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반찬 정기 배달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3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반찬 4가지 · 주 2회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3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700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한 달 120,000원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3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8229600" y="1920240"/>
            <a:ext cx="3322015" cy="3291840"/>
          </a:xfrm>
          <a:prstGeom prst="roundRect">
            <a:avLst>
              <a:gd name="adj" fmla="val 2778"/>
            </a:avLst>
          </a:prstGeom>
          <a:solidFill>
            <a:srgbClr val="EDF2F7"/>
          </a:solidFill>
          <a:ln w="12700">
            <a:solidFill>
              <a:srgbClr val="EDF2F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503920" y="2148840"/>
            <a:ext cx="27733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746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주문 전에 알아 두세요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8503920" y="2697480"/>
            <a:ext cx="286481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도시락은 10개부터 배달합니다</a:t>
            </a:r>
            <a:endParaRPr lang="en-US" sz="1600" dirty="0"/>
          </a:p>
          <a:p>
            <a:pPr marL="177800" indent="-177800"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가게에서 3km 안은 배달비가 없습니다</a:t>
            </a:r>
            <a:endParaRPr lang="en-US" sz="1600" dirty="0"/>
          </a:p>
          <a:p>
            <a:pPr marL="177800" indent="-177800"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주간 메뉴표를 문자로 보내 드립니다</a:t>
            </a:r>
            <a:endParaRPr lang="en-US" sz="1600" dirty="0"/>
          </a:p>
          <a:p>
            <a:pPr marL="177800" indent="-177800"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행사 주문은 3일 전까지 알려 주세요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swan · 직접 만든 예시(가상 자료)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100297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주문은 이렇게 하시면 됩니다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8872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처음 주문하셔도 전화 한 통이면 됩니다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2514600" cy="2926080"/>
          </a:xfrm>
          <a:prstGeom prst="roundRect">
            <a:avLst>
              <a:gd name="adj" fmla="val 4364"/>
            </a:avLst>
          </a:prstGeom>
          <a:solidFill>
            <a:srgbClr val="EDF2F7"/>
          </a:solidFill>
          <a:ln w="12700">
            <a:solidFill>
              <a:srgbClr val="EDF2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4231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A9BCD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329184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전화·문자로 문의</a:t>
            </a:r>
            <a:endParaRPr lang="en-US" sz="21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388620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날짜, 인원, 예산을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알려 주세요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3154680" y="3246120"/>
            <a:ext cx="256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A9BCD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3410712" y="2148840"/>
            <a:ext cx="2514600" cy="2926080"/>
          </a:xfrm>
          <a:prstGeom prst="roundRect">
            <a:avLst>
              <a:gd name="adj" fmla="val 4364"/>
            </a:avLst>
          </a:prstGeom>
          <a:solidFill>
            <a:srgbClr val="EDF2F7"/>
          </a:solidFill>
          <a:ln w="12700">
            <a:solidFill>
              <a:srgbClr val="EDF2F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685032" y="24231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A9BCD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3600" dirty="0"/>
          </a:p>
        </p:txBody>
      </p:sp>
      <p:sp>
        <p:nvSpPr>
          <p:cNvPr id="11" name="Text 9"/>
          <p:cNvSpPr txBox="1"/>
          <p:nvPr/>
        </p:nvSpPr>
        <p:spPr>
          <a:xfrm>
            <a:off x="3685032" y="329184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메뉴 확정</a:t>
            </a:r>
            <a:endParaRPr lang="en-US" sz="2100" dirty="0"/>
          </a:p>
        </p:txBody>
      </p:sp>
      <p:sp>
        <p:nvSpPr>
          <p:cNvPr id="12" name="Text 10"/>
          <p:cNvSpPr txBox="1"/>
          <p:nvPr/>
        </p:nvSpPr>
        <p:spPr>
          <a:xfrm>
            <a:off x="3685032" y="388620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배달 전날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오후 3시까지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5925312" y="3246120"/>
            <a:ext cx="256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A9BCD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3000" dirty="0"/>
          </a:p>
        </p:txBody>
      </p:sp>
      <p:sp>
        <p:nvSpPr>
          <p:cNvPr id="14" name="Shape 12"/>
          <p:cNvSpPr/>
          <p:nvPr/>
        </p:nvSpPr>
        <p:spPr>
          <a:xfrm>
            <a:off x="6181344" y="2148840"/>
            <a:ext cx="2514600" cy="2926080"/>
          </a:xfrm>
          <a:prstGeom prst="roundRect">
            <a:avLst>
              <a:gd name="adj" fmla="val 4364"/>
            </a:avLst>
          </a:prstGeom>
          <a:solidFill>
            <a:srgbClr val="27466A"/>
          </a:solidFill>
          <a:ln w="12700">
            <a:solidFill>
              <a:srgbClr val="27466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55664" y="24231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C9D6E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3600" dirty="0"/>
          </a:p>
        </p:txBody>
      </p:sp>
      <p:sp>
        <p:nvSpPr>
          <p:cNvPr id="16" name="Text 14"/>
          <p:cNvSpPr txBox="1"/>
          <p:nvPr/>
        </p:nvSpPr>
        <p:spPr>
          <a:xfrm>
            <a:off x="6455664" y="329184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배달</a:t>
            </a:r>
            <a:endParaRPr lang="en-US" sz="2100" dirty="0"/>
          </a:p>
        </p:txBody>
      </p:sp>
      <p:sp>
        <p:nvSpPr>
          <p:cNvPr id="17" name="Text 15"/>
          <p:cNvSpPr txBox="1"/>
          <p:nvPr/>
        </p:nvSpPr>
        <p:spPr>
          <a:xfrm>
            <a:off x="6455664" y="388620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C9D6E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당일 오전 11시 30분까지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C9D6E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도착합니다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8695944" y="3246120"/>
            <a:ext cx="256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A9BCD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3000" dirty="0"/>
          </a:p>
        </p:txBody>
      </p:sp>
      <p:sp>
        <p:nvSpPr>
          <p:cNvPr id="19" name="Shape 17"/>
          <p:cNvSpPr/>
          <p:nvPr/>
        </p:nvSpPr>
        <p:spPr>
          <a:xfrm>
            <a:off x="8951976" y="2148840"/>
            <a:ext cx="2514600" cy="2926080"/>
          </a:xfrm>
          <a:prstGeom prst="roundRect">
            <a:avLst>
              <a:gd name="adj" fmla="val 4364"/>
            </a:avLst>
          </a:prstGeom>
          <a:solidFill>
            <a:srgbClr val="EDF2F7"/>
          </a:solidFill>
          <a:ln w="12700">
            <a:solidFill>
              <a:srgbClr val="EDF2F7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226296" y="24231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A9BCD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3600" dirty="0"/>
          </a:p>
        </p:txBody>
      </p:sp>
      <p:sp>
        <p:nvSpPr>
          <p:cNvPr id="21" name="Text 19"/>
          <p:cNvSpPr txBox="1"/>
          <p:nvPr/>
        </p:nvSpPr>
        <p:spPr>
          <a:xfrm>
            <a:off x="9226296" y="329184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그릇 회수</a:t>
            </a:r>
            <a:endParaRPr lang="en-US" sz="2100" dirty="0"/>
          </a:p>
        </p:txBody>
      </p:sp>
      <p:sp>
        <p:nvSpPr>
          <p:cNvPr id="22" name="Text 20"/>
          <p:cNvSpPr txBox="1"/>
          <p:nvPr/>
        </p:nvSpPr>
        <p:spPr>
          <a:xfrm>
            <a:off x="9226296" y="388620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다음 날 오전에 찾으러 갑니다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(일회용기도 고를 수 있습니다)</a:t>
            </a:r>
            <a:endParaRPr lang="en-US" sz="1450" dirty="0"/>
          </a:p>
        </p:txBody>
      </p:sp>
      <p:sp>
        <p:nvSpPr>
          <p:cNvPr id="23" name="Text 21"/>
          <p:cNvSpPr txBox="1"/>
          <p:nvPr/>
        </p:nvSpPr>
        <p:spPr>
          <a:xfrm>
            <a:off x="64008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swan · 직접 만든 예시(가상 자료)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1100297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단체 주문이 1년 사이 두 배가 되었습니다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8872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월별 단체 주문 건수 (2025년 10월 ~ 2026년 9월)</a:t>
            </a:r>
            <a:endParaRPr lang="en-US" sz="15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783080"/>
          <a:ext cx="786384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915400" y="1920240"/>
            <a:ext cx="2636215" cy="2011680"/>
          </a:xfrm>
          <a:prstGeom prst="roundRect">
            <a:avLst>
              <a:gd name="adj" fmla="val 4545"/>
            </a:avLst>
          </a:prstGeom>
          <a:solidFill>
            <a:srgbClr val="27466A"/>
          </a:solidFill>
          <a:ln w="12700">
            <a:solidFill>
              <a:srgbClr val="27466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9189720" y="2148840"/>
            <a:ext cx="21790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C9D6E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올해 9월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9189720" y="2560320"/>
            <a:ext cx="21790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44건</a:t>
            </a:r>
            <a:endParaRPr lang="en-US" sz="4000" dirty="0"/>
          </a:p>
        </p:txBody>
      </p:sp>
      <p:sp>
        <p:nvSpPr>
          <p:cNvPr id="8" name="Text 5"/>
          <p:cNvSpPr txBox="1"/>
          <p:nvPr/>
        </p:nvSpPr>
        <p:spPr>
          <a:xfrm>
            <a:off x="9189720" y="3383280"/>
            <a:ext cx="21790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D6E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지난해 10월 21건의 약 2배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8915400" y="4114800"/>
            <a:ext cx="2636215" cy="1691640"/>
          </a:xfrm>
          <a:prstGeom prst="roundRect">
            <a:avLst>
              <a:gd name="adj" fmla="val 5405"/>
            </a:avLst>
          </a:prstGeom>
          <a:solidFill>
            <a:srgbClr val="EDF2F7"/>
          </a:solidFill>
          <a:ln w="12700">
            <a:solidFill>
              <a:srgbClr val="EDF2F7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9189720" y="4315968"/>
            <a:ext cx="21790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 번 주문하신 곳의 대부분이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다시 주문해 주셔서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정기 거래처가 늘었습니다.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640080" y="6035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단체 주문 = 도시락 10개 이상 또는 행사용 반찬 모둠 주문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64008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swan · 직접 만든 예시(가상 자료)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1100297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믿고 맡기실 수 있도록 지키는 네 가지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8872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단체 주문을 받을 때 약속드리는 것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868680" cy="868680"/>
          </a:xfrm>
          <a:prstGeom prst="ellipse">
            <a:avLst/>
          </a:prstGeom>
          <a:solidFill>
            <a:srgbClr val="27466A"/>
          </a:solidFill>
          <a:ln w="12700">
            <a:solidFill>
              <a:srgbClr val="27466A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" y="2368296"/>
            <a:ext cx="429768" cy="42976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783080" y="2167128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그날 만든 반찬만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1783080" y="2624328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전날 남은 반찬은 단체 주문에 쓰지 않습니다.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172200" y="2148840"/>
            <a:ext cx="868680" cy="868680"/>
          </a:xfrm>
          <a:prstGeom prst="ellipse">
            <a:avLst/>
          </a:prstGeom>
          <a:solidFill>
            <a:srgbClr val="27466A"/>
          </a:solidFill>
          <a:ln w="12700">
            <a:solidFill>
              <a:srgbClr val="27466A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1656" y="2368296"/>
            <a:ext cx="429768" cy="42976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7315200" y="2167128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알레르기 재료 미리 안내</a:t>
            </a:r>
            <a:endParaRPr lang="en-US" sz="2000" dirty="0"/>
          </a:p>
        </p:txBody>
      </p:sp>
      <p:sp>
        <p:nvSpPr>
          <p:cNvPr id="11" name="Text 7"/>
          <p:cNvSpPr txBox="1"/>
          <p:nvPr/>
        </p:nvSpPr>
        <p:spPr>
          <a:xfrm>
            <a:off x="7315200" y="2624328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땅콩·새우 등이 들어가는 메뉴는 주문 때 알려 드립니다.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640080" y="4160520"/>
            <a:ext cx="868680" cy="868680"/>
          </a:xfrm>
          <a:prstGeom prst="ellipse">
            <a:avLst/>
          </a:prstGeom>
          <a:solidFill>
            <a:srgbClr val="27466A"/>
          </a:solidFill>
          <a:ln w="12700">
            <a:solidFill>
              <a:srgbClr val="27466A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" y="4379976"/>
            <a:ext cx="429768" cy="429768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783080" y="4178808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늦어질 땐 먼저 연락</a:t>
            </a:r>
            <a:endParaRPr lang="en-US" sz="2000" dirty="0"/>
          </a:p>
        </p:txBody>
      </p:sp>
      <p:sp>
        <p:nvSpPr>
          <p:cNvPr id="15" name="Text 10"/>
          <p:cNvSpPr txBox="1"/>
          <p:nvPr/>
        </p:nvSpPr>
        <p:spPr>
          <a:xfrm>
            <a:off x="1783080" y="4636008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도착이 10분 넘게 늦어지면 미리 전화드립니다.</a:t>
            </a:r>
            <a:endParaRPr lang="en-US" sz="1500" dirty="0"/>
          </a:p>
        </p:txBody>
      </p:sp>
      <p:sp>
        <p:nvSpPr>
          <p:cNvPr id="16" name="Shape 11"/>
          <p:cNvSpPr/>
          <p:nvPr/>
        </p:nvSpPr>
        <p:spPr>
          <a:xfrm>
            <a:off x="6172200" y="4160520"/>
            <a:ext cx="868680" cy="868680"/>
          </a:xfrm>
          <a:prstGeom prst="ellipse">
            <a:avLst/>
          </a:prstGeom>
          <a:solidFill>
            <a:srgbClr val="27466A"/>
          </a:solidFill>
          <a:ln w="12700">
            <a:solidFill>
              <a:srgbClr val="27466A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1656" y="4379976"/>
            <a:ext cx="429768" cy="429768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7315200" y="4178808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쌀·김치는 국내산</a:t>
            </a:r>
            <a:endParaRPr lang="en-US" sz="2000" dirty="0"/>
          </a:p>
        </p:txBody>
      </p:sp>
      <p:sp>
        <p:nvSpPr>
          <p:cNvPr id="19" name="Text 13"/>
          <p:cNvSpPr txBox="1"/>
          <p:nvPr/>
        </p:nvSpPr>
        <p:spPr>
          <a:xfrm>
            <a:off x="7315200" y="4636008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원산지는 주간 메뉴표에 적어 드립니다.</a:t>
            </a:r>
            <a:endParaRPr lang="en-US" sz="1500" dirty="0"/>
          </a:p>
        </p:txBody>
      </p:sp>
      <p:sp>
        <p:nvSpPr>
          <p:cNvPr id="20" name="Text 14"/>
          <p:cNvSpPr txBox="1"/>
          <p:nvPr/>
        </p:nvSpPr>
        <p:spPr>
          <a:xfrm>
            <a:off x="64008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swan · 직접 만든 예시(가상 자료)</a:t>
            </a:r>
            <a:endParaRPr lang="en-US" sz="1000" dirty="0"/>
          </a:p>
        </p:txBody>
      </p:sp>
      <p:sp>
        <p:nvSpPr>
          <p:cNvPr id="21" name="Text 15"/>
          <p:cNvSpPr txBox="1"/>
          <p:nvPr/>
        </p:nvSpPr>
        <p:spPr>
          <a:xfrm>
            <a:off x="1100297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7466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8229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C9D6E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주문·상담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37160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010-0000-0000</a:t>
            </a:r>
            <a:endParaRPr lang="en-US" sz="6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468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9D6E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예시 번호입니다 · 문자로 남겨 주셔도 됩니다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474720"/>
            <a:ext cx="548640" cy="548640"/>
          </a:xfrm>
          <a:prstGeom prst="ellipse">
            <a:avLst/>
          </a:prstGeom>
          <a:solidFill>
            <a:srgbClr val="1E3754"/>
          </a:solidFill>
          <a:ln w="12700">
            <a:solidFill>
              <a:srgbClr val="1E3754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" y="3621024"/>
            <a:ext cx="256032" cy="25603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17320" y="35661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C9D6E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영업 시간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2880360" y="356616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월~토 아침 7시 ~ 저녁 7시 (일요일 단체 주문은 미리 말씀해 주세요)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640080" y="4251960"/>
            <a:ext cx="548640" cy="548640"/>
          </a:xfrm>
          <a:prstGeom prst="ellipse">
            <a:avLst/>
          </a:prstGeom>
          <a:solidFill>
            <a:srgbClr val="1E3754"/>
          </a:solidFill>
          <a:ln w="12700">
            <a:solidFill>
              <a:srgbClr val="1E3754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" y="4398264"/>
            <a:ext cx="256032" cy="25603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417320" y="43434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C9D6E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가게 위치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2880360" y="434340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○○동 시장 입구(가상)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640080" y="5029200"/>
            <a:ext cx="548640" cy="548640"/>
          </a:xfrm>
          <a:prstGeom prst="ellipse">
            <a:avLst/>
          </a:prstGeom>
          <a:solidFill>
            <a:srgbClr val="1E3754"/>
          </a:solidFill>
          <a:ln w="12700">
            <a:solidFill>
              <a:srgbClr val="1E3754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" y="5175504"/>
            <a:ext cx="256032" cy="256032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417320" y="51206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C9D6E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배달 지역</a:t>
            </a:r>
            <a:endParaRPr lang="en-US" sz="1600" dirty="0"/>
          </a:p>
        </p:txBody>
      </p:sp>
      <p:sp>
        <p:nvSpPr>
          <p:cNvPr id="16" name="Text 11"/>
          <p:cNvSpPr txBox="1"/>
          <p:nvPr/>
        </p:nvSpPr>
        <p:spPr>
          <a:xfrm>
            <a:off x="2880360" y="512064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가게에서 3km 안은 배달비 없음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64008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FA6C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swan · 직접 만든 예시(가상 자료)</a:t>
            </a:r>
            <a:endParaRPr lang="en-US" sz="1000" dirty="0"/>
          </a:p>
        </p:txBody>
      </p:sp>
      <p:sp>
        <p:nvSpPr>
          <p:cNvPr id="18" name="Text 13"/>
          <p:cNvSpPr txBox="1"/>
          <p:nvPr/>
        </p:nvSpPr>
        <p:spPr>
          <a:xfrm>
            <a:off x="1100297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6C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소담찬(가상) 단체 도시락·반찬 배달 안내</dc:title>
  <dc:subject>PptxGenJS Presentation</dc:subject>
  <dc:creator>swan (sample)</dc:creator>
  <cp:lastModifiedBy>swan (sample)</cp:lastModifiedBy>
  <cp:revision>1</cp:revision>
  <dcterms:created xsi:type="dcterms:W3CDTF">2026-09-24T08:38:24Z</dcterms:created>
  <dcterms:modified xsi:type="dcterms:W3CDTF">2026-09-24T08:38:24Z</dcterms:modified>
</cp:coreProperties>
</file>