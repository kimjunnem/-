
<file path=[Content_Types].xml><?xml version="1.0" encoding="utf-8"?>
<Types xmlns="http://schemas.openxmlformats.org/package/2006/content-types">
  <Default Extension="fntdata" ContentType="application/x-fontdata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c60bf77bd7427d" /><Relationship Type="http://schemas.openxmlformats.org/officeDocument/2006/relationships/extended-properties" Target="/docProps/app.xml" Id="Rba7123dfc292411a" /><Relationship Type="http://schemas.openxmlformats.org/officeDocument/2006/relationships/officeDocument" Target="/ppt/presentation.xml" Id="R75aecfba440f4d72" /></Relationships>
</file>

<file path=ppt/presentation.xml><?xml version="1.0" encoding="utf-8"?>
<p:presentation xmlns:r="http://schemas.openxmlformats.org/officeDocument/2006/relationships" xmlns:p="http://schemas.openxmlformats.org/presentationml/2006/main" embedTrueTypeFonts="1">
  <p:sldMasterIdLst>
    <p:sldMasterId xmlns:r="http://schemas.openxmlformats.org/officeDocument/2006/relationships" id="2147483648" r:id="R601fbfe27f6447fd"/>
  </p:sldMasterIdLst>
  <p:notesMasterIdLst>
    <p:notesMasterId xmlns:r="http://schemas.openxmlformats.org/officeDocument/2006/relationships" r:id="Rd50f0e5a1f5148fa"/>
  </p:notesMasterIdLst>
  <p:sldIdLst>
    <p:sldId xmlns:r="http://schemas.openxmlformats.org/officeDocument/2006/relationships" id="256" r:id="Rbee4557c85424213"/>
    <p:sldId xmlns:r="http://schemas.openxmlformats.org/officeDocument/2006/relationships" id="257" r:id="R76c8ed9f917e4929"/>
    <p:sldId xmlns:r="http://schemas.openxmlformats.org/officeDocument/2006/relationships" id="258" r:id="R0e1a0f99e9fa492c"/>
    <p:sldId xmlns:r="http://schemas.openxmlformats.org/officeDocument/2006/relationships" id="259" r:id="R07b653d215d6488a"/>
    <p:sldId xmlns:r="http://schemas.openxmlformats.org/officeDocument/2006/relationships" id="260" r:id="R13dbc46320ec4a08"/>
    <p:sldId xmlns:r="http://schemas.openxmlformats.org/officeDocument/2006/relationships" id="261" r:id="R446731a261554097"/>
    <p:sldId xmlns:r="http://schemas.openxmlformats.org/officeDocument/2006/relationships" id="262" r:id="R7c30ab0948cf4058"/>
  </p:sldIdLst>
  <p:sldSz cx="12192000" cy="6858000"/>
  <p:notesSz cx="6858000" cy="9144000"/>
  <p:embeddedFontLst>
    <p:embeddedFont>
      <p:font typeface="Pretendard" pitchFamily="2" charset="-127"/>
      <p:regular r:id="rIdSwanFont1"/>
      <p:bold r:id="rIdSwanFont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c1b7dfae904276" /><Relationship Type="http://schemas.openxmlformats.org/officeDocument/2006/relationships/slideMaster" Target="/ppt/slideMasters/slideMaster1.xml" Id="R601fbfe27f6447fd" /><Relationship Type="http://schemas.openxmlformats.org/officeDocument/2006/relationships/notesMaster" Target="/ppt/notesMasters/notesMaster1.xml" Id="Rd50f0e5a1f5148fa" /><Relationship Type="http://schemas.openxmlformats.org/officeDocument/2006/relationships/presProps" Target="/ppt/presProps.xml" Id="R9e673f7c02904c51" /><Relationship Type="http://schemas.openxmlformats.org/officeDocument/2006/relationships/tableStyles" Target="/ppt/tableStyles.xml" Id="R084a39fd1a03420a" /><Relationship Type="http://schemas.openxmlformats.org/officeDocument/2006/relationships/slide" Target="/ppt/slides/slide1.xml" Id="Rbee4557c85424213" /><Relationship Type="http://schemas.openxmlformats.org/officeDocument/2006/relationships/slide" Target="/ppt/slides/slide2.xml" Id="R76c8ed9f917e4929" /><Relationship Type="http://schemas.openxmlformats.org/officeDocument/2006/relationships/slide" Target="/ppt/slides/slide3.xml" Id="R0e1a0f99e9fa492c" /><Relationship Type="http://schemas.openxmlformats.org/officeDocument/2006/relationships/slide" Target="/ppt/slides/slide4.xml" Id="R07b653d215d6488a" /><Relationship Type="http://schemas.openxmlformats.org/officeDocument/2006/relationships/slide" Target="/ppt/slides/slide5.xml" Id="R13dbc46320ec4a08" /><Relationship Type="http://schemas.openxmlformats.org/officeDocument/2006/relationships/slide" Target="/ppt/slides/slide6.xml" Id="R446731a261554097" /><Relationship Type="http://schemas.openxmlformats.org/officeDocument/2006/relationships/slide" Target="/ppt/slides/slide7.xml" Id="R7c30ab0948cf4058" /><Relationship Id="rIdSwanFont1" Type="http://schemas.openxmlformats.org/officeDocument/2006/relationships/font" Target="fonts/font1.fntdata"/><Relationship Id="rIdSwanFont2" Type="http://schemas.openxmlformats.org/officeDocument/2006/relationships/font" Target="fonts/font2.fntdata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1509f2af084e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d8b8f0fce949bc" /><Relationship Type="http://schemas.openxmlformats.org/officeDocument/2006/relationships/notesMaster" Target="/ppt/notesMasters/notesMaster1.xml" Id="R0864ac540c7b42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5b287f65e14b12" /><Relationship Type="http://schemas.openxmlformats.org/officeDocument/2006/relationships/notesMaster" Target="/ppt/notesMasters/notesMaster1.xml" Id="Ra822d0d147c243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9741c7fe474095" /><Relationship Type="http://schemas.openxmlformats.org/officeDocument/2006/relationships/notesMaster" Target="/ppt/notesMasters/notesMaster1.xml" Id="R7be2d026819646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dfc31a37744100" /><Relationship Type="http://schemas.openxmlformats.org/officeDocument/2006/relationships/notesMaster" Target="/ppt/notesMasters/notesMaster1.xml" Id="Rda78f1e5c2fc4e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457de85e1c4a70" /><Relationship Type="http://schemas.openxmlformats.org/officeDocument/2006/relationships/notesMaster" Target="/ppt/notesMasters/notesMaster1.xml" Id="Re5c31c42523e49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173877053a4d01" /><Relationship Type="http://schemas.openxmlformats.org/officeDocument/2006/relationships/notesMaster" Target="/ppt/notesMasters/notesMaster1.xml" Id="R0212e9ebcb8b43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c5f593bf3143cc" /><Relationship Type="http://schemas.openxmlformats.org/officeDocument/2006/relationships/notesMaster" Target="/ppt/notesMasters/notesMaster1.xml" Id="R03d3b9fa7f354b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Swan_Professional_Report.docx. 자체 제작 운영 설계 샘플이며 실제 고객 실적이나 검증된 전환 성과가 아니다. 가상 수치는 설명용이다. 측정 원칙 참고: https://www.gov.uk/service-manual/measuring-success/measuring-completion-rate (2021-02-19). 기간·절차·실험안은 본 보고서의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5ec03e9f34b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1f598493cc4921" /><Relationship Type="http://schemas.openxmlformats.org/officeDocument/2006/relationships/slideLayout" Target="/ppt/slideLayouts/slideLayout1.xml" Id="R263df23c752941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3df23c752941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47c0173914de3" /><Relationship Type="http://schemas.openxmlformats.org/officeDocument/2006/relationships/notesSlide" Target="/ppt/notesSlides/notesSlide1.xml" Id="Rf7ca1dc7fc5144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acf55d47b46a7" /><Relationship Type="http://schemas.openxmlformats.org/officeDocument/2006/relationships/notesSlide" Target="/ppt/notesSlides/notesSlide2.xml" Id="Rb79361376ff343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025e0e1114e66" /><Relationship Type="http://schemas.openxmlformats.org/officeDocument/2006/relationships/notesSlide" Target="/ppt/notesSlides/notesSlide3.xml" Id="R39290edd9a0542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1ce86df874f8a" /><Relationship Type="http://schemas.openxmlformats.org/officeDocument/2006/relationships/notesSlide" Target="/ppt/notesSlides/notesSlide4.xml" Id="R5e9cb3d762474c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cee35a9d24b00" /><Relationship Type="http://schemas.openxmlformats.org/officeDocument/2006/relationships/notesSlide" Target="/ppt/notesSlides/notesSlide5.xml" Id="Rde16bdafdd9a41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d4ca31461409f" /><Relationship Type="http://schemas.openxmlformats.org/officeDocument/2006/relationships/notesSlide" Target="/ppt/notesSlides/notesSlide6.xml" Id="Rffe9f518e0cf45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05ffeec464838" /><Relationship Type="http://schemas.openxmlformats.org/officeDocument/2006/relationships/notesSlide" Target="/ppt/notesSlides/notesSlide7.xml" Id="R9076cc4653ef42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py-1">
            <a:extLst xmlns:a="http://schemas.openxmlformats.org/drawingml/2006/main">
              <a:ext uri="{FF2B5EF4-FFF2-40B4-BE49-F238E27FC236}">
                <a16:creationId xmlns:a16="http://schemas.microsoft.com/office/drawing/2014/main" id="{9830AC10-AF1E-44FC-8698-1F128A0C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OPERATIONS BRIEF  /  2026.09</a:t>
            </a:r>
          </a:p>
        </p:txBody>
      </p:sp>
      <p:sp>
        <p:nvSpPr>
          <p:cNvPr id="2" name="copy-2">
            <a:extLst xmlns:a="http://schemas.openxmlformats.org/drawingml/2006/main">
              <a:ext uri="{FF2B5EF4-FFF2-40B4-BE49-F238E27FC236}">
                <a16:creationId xmlns:a16="http://schemas.microsoft.com/office/drawing/2014/main" id="{B50ABB7F-CF1E-489A-9A47-8DBCF4DF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3">
            <a:extLst xmlns:a="http://schemas.openxmlformats.org/drawingml/2006/main">
              <a:ext uri="{FF2B5EF4-FFF2-40B4-BE49-F238E27FC236}">
                <a16:creationId xmlns:a16="http://schemas.microsoft.com/office/drawing/2014/main" id="{F81D8193-2A5D-459B-8DB8-17D702F9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AAAA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AAAAAA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4">
            <a:extLst xmlns:a="http://schemas.openxmlformats.org/drawingml/2006/main">
              <a:ext uri="{FF2B5EF4-FFF2-40B4-BE49-F238E27FC236}">
                <a16:creationId xmlns:a16="http://schemas.microsoft.com/office/drawing/2014/main" id="{60B6552D-CD62-4FEF-90EA-B7AEB0BD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429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copy-5">
            <a:extLst xmlns:a="http://schemas.openxmlformats.org/drawingml/2006/main">
              <a:ext uri="{FF2B5EF4-FFF2-40B4-BE49-F238E27FC236}">
                <a16:creationId xmlns:a16="http://schemas.microsoft.com/office/drawing/2014/main" id="{C9F9C4BF-CA3D-4DEB-A275-4BF98EF9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1076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고객 문의에서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결제까지</a:t>
            </a:r>
          </a:p>
        </p:txBody>
      </p:sp>
      <p:sp>
        <p:nvSpPr>
          <p:cNvPr id="6" name="copy-6">
            <a:extLst xmlns:a="http://schemas.openxmlformats.org/drawingml/2006/main">
              <a:ext uri="{FF2B5EF4-FFF2-40B4-BE49-F238E27FC236}">
                <a16:creationId xmlns:a16="http://schemas.microsoft.com/office/drawing/2014/main" id="{E9A7E456-B7E3-4075-B1E2-4F68E8E7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862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디지털 제작 서비스의 상담 전환 개선안</a:t>
            </a:r>
          </a:p>
        </p:txBody>
      </p:sp>
      <p:sp>
        <p:nvSpPr>
          <p:cNvPr id="7" name="copy-7">
            <a:extLst xmlns:a="http://schemas.openxmlformats.org/drawingml/2006/main">
              <a:ext uri="{FF2B5EF4-FFF2-40B4-BE49-F238E27FC236}">
                <a16:creationId xmlns:a16="http://schemas.microsoft.com/office/drawing/2014/main" id="{624131AE-7818-4C10-93EF-72304937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86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측정 기준 · 고객 응대 · 샘플 제공 실험</a:t>
            </a:r>
          </a:p>
        </p:txBody>
      </p:sp>
    </p:spTree>
    <p:extLst>
      <p:ext uri="{BB962C8B-B14F-4D97-AF65-F5344CB8AC3E}">
        <p14:creationId xmlns:p14="http://schemas.microsoft.com/office/powerpoint/2010/main" val="982647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-8">
            <a:extLst xmlns:a="http://schemas.openxmlformats.org/drawingml/2006/main">
              <a:ext uri="{FF2B5EF4-FFF2-40B4-BE49-F238E27FC236}">
                <a16:creationId xmlns:a16="http://schemas.microsoft.com/office/drawing/2014/main" id="{E5CD13C0-7EFB-4037-A573-1007EB85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01  /  PRIORITY</a:t>
            </a:r>
          </a:p>
        </p:txBody>
      </p:sp>
      <p:sp>
        <p:nvSpPr>
          <p:cNvPr id="2" name="copy-9">
            <a:extLst xmlns:a="http://schemas.openxmlformats.org/drawingml/2006/main">
              <a:ext uri="{FF2B5EF4-FFF2-40B4-BE49-F238E27FC236}">
                <a16:creationId xmlns:a16="http://schemas.microsoft.com/office/drawing/2014/main" id="{12491A2E-E8DA-433D-9171-FEBB632B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10">
            <a:extLst xmlns:a="http://schemas.openxmlformats.org/drawingml/2006/main">
              <a:ext uri="{FF2B5EF4-FFF2-40B4-BE49-F238E27FC236}">
                <a16:creationId xmlns:a16="http://schemas.microsoft.com/office/drawing/2014/main" id="{EB88E45C-83BB-4899-BF7E-2E44C048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11">
            <a:extLst xmlns:a="http://schemas.openxmlformats.org/drawingml/2006/main">
              <a:ext uri="{FF2B5EF4-FFF2-40B4-BE49-F238E27FC236}">
                <a16:creationId xmlns:a16="http://schemas.microsoft.com/office/drawing/2014/main" id="{DF7B0CAF-DC71-4C78-9581-6571B354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429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copy-12">
            <a:extLst xmlns:a="http://schemas.openxmlformats.org/drawingml/2006/main">
              <a:ext uri="{FF2B5EF4-FFF2-40B4-BE49-F238E27FC236}">
                <a16:creationId xmlns:a16="http://schemas.microsoft.com/office/drawing/2014/main" id="{4EA04240-1ACF-4EBD-9D77-575F7ABD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1102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가격을 바꾸기 전에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어느 단계에서 멈추는지 확인한다</a:t>
            </a:r>
          </a:p>
        </p:txBody>
      </p:sp>
      <p:sp>
        <p:nvSpPr>
          <p:cNvPr id="6" name="copy-13">
            <a:extLst xmlns:a="http://schemas.openxmlformats.org/drawingml/2006/main">
              <a:ext uri="{FF2B5EF4-FFF2-40B4-BE49-F238E27FC236}">
                <a16:creationId xmlns:a16="http://schemas.microsoft.com/office/drawing/2014/main" id="{1C22F738-19CC-438D-8E2E-E5D261DF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copy-14">
            <a:extLst xmlns:a="http://schemas.openxmlformats.org/drawingml/2006/main">
              <a:ext uri="{FF2B5EF4-FFF2-40B4-BE49-F238E27FC236}">
                <a16:creationId xmlns:a16="http://schemas.microsoft.com/office/drawing/2014/main" id="{FFA6B7A0-3531-4A76-AD68-535AB70D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응대 누락</a:t>
            </a:r>
          </a:p>
        </p:txBody>
      </p:sp>
      <p:sp>
        <p:nvSpPr>
          <p:cNvPr id="8" name="copy-15">
            <a:extLst xmlns:a="http://schemas.openxmlformats.org/drawingml/2006/main">
              <a:ext uri="{FF2B5EF4-FFF2-40B4-BE49-F238E27FC236}">
                <a16:creationId xmlns:a16="http://schemas.microsoft.com/office/drawing/2014/main" id="{7B9FCA14-1D11-41FE-AA7E-B4838085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고객의 실제 질문을 먼저 찾고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답변 발송까지 확인한다.</a:t>
            </a:r>
          </a:p>
        </p:txBody>
      </p:sp>
      <p:sp>
        <p:nvSpPr>
          <p:cNvPr id="9" name="copy-16">
            <a:extLst xmlns:a="http://schemas.openxmlformats.org/drawingml/2006/main">
              <a:ext uri="{FF2B5EF4-FFF2-40B4-BE49-F238E27FC236}">
                <a16:creationId xmlns:a16="http://schemas.microsoft.com/office/drawing/2014/main" id="{7D915308-0BF8-4F17-AF55-DBD81BF9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증거: 질문·답변 시각</a:t>
            </a:r>
          </a:p>
        </p:txBody>
      </p:sp>
      <p:sp>
        <p:nvSpPr>
          <p:cNvPr id="10" name="copy-17">
            <a:extLst xmlns:a="http://schemas.openxmlformats.org/drawingml/2006/main">
              <a:ext uri="{FF2B5EF4-FFF2-40B4-BE49-F238E27FC236}">
                <a16:creationId xmlns:a16="http://schemas.microsoft.com/office/drawing/2014/main" id="{3A7EB74D-3643-4404-B163-E26920FD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copy-18">
            <a:extLst xmlns:a="http://schemas.openxmlformats.org/drawingml/2006/main">
              <a:ext uri="{FF2B5EF4-FFF2-40B4-BE49-F238E27FC236}">
                <a16:creationId xmlns:a16="http://schemas.microsoft.com/office/drawing/2014/main" id="{8D177184-1676-4AC4-AD5A-8E6DCDF4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956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결과물 이해</a:t>
            </a:r>
          </a:p>
        </p:txBody>
      </p:sp>
      <p:sp>
        <p:nvSpPr>
          <p:cNvPr id="12" name="copy-19">
            <a:extLst xmlns:a="http://schemas.openxmlformats.org/drawingml/2006/main">
              <a:ext uri="{FF2B5EF4-FFF2-40B4-BE49-F238E27FC236}">
                <a16:creationId xmlns:a16="http://schemas.microsoft.com/office/drawing/2014/main" id="{257AF950-2394-4F2D-9CE0-DB2467CE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05300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요청과 가장 가까운 샘플 1개로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입력과 결과를 보여준다.</a:t>
            </a:r>
          </a:p>
        </p:txBody>
      </p:sp>
      <p:sp>
        <p:nvSpPr>
          <p:cNvPr id="13" name="copy-20">
            <a:extLst xmlns:a="http://schemas.openxmlformats.org/drawingml/2006/main">
              <a:ext uri="{FF2B5EF4-FFF2-40B4-BE49-F238E27FC236}">
                <a16:creationId xmlns:a16="http://schemas.microsoft.com/office/drawing/2014/main" id="{947979B8-2F6E-4975-8E3C-60DB9C53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768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증거: 샘플·검수 기록</a:t>
            </a:r>
          </a:p>
        </p:txBody>
      </p:sp>
      <p:sp>
        <p:nvSpPr>
          <p:cNvPr id="14" name="copy-21">
            <a:extLst xmlns:a="http://schemas.openxmlformats.org/drawingml/2006/main">
              <a:ext uri="{FF2B5EF4-FFF2-40B4-BE49-F238E27FC236}">
                <a16:creationId xmlns:a16="http://schemas.microsoft.com/office/drawing/2014/main" id="{174521D9-8D1F-4AD8-85C1-BA045B3D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copy-22">
            <a:extLst xmlns:a="http://schemas.openxmlformats.org/drawingml/2006/main">
              <a:ext uri="{FF2B5EF4-FFF2-40B4-BE49-F238E27FC236}">
                <a16:creationId xmlns:a16="http://schemas.microsoft.com/office/drawing/2014/main" id="{E75891DE-172E-44FF-A5BE-7806345F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956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결제 전 불확실성</a:t>
            </a:r>
          </a:p>
        </p:txBody>
      </p:sp>
      <p:sp>
        <p:nvSpPr>
          <p:cNvPr id="16" name="copy-23">
            <a:extLst xmlns:a="http://schemas.openxmlformats.org/drawingml/2006/main">
              <a:ext uri="{FF2B5EF4-FFF2-40B4-BE49-F238E27FC236}">
                <a16:creationId xmlns:a16="http://schemas.microsoft.com/office/drawing/2014/main" id="{02837321-21CF-4817-9565-3FB93D16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총액·납기·수정 범위를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합의한 뒤 결제를 안내한다.</a:t>
            </a:r>
          </a:p>
        </p:txBody>
      </p:sp>
      <p:sp>
        <p:nvSpPr>
          <p:cNvPr id="17" name="copy-24">
            <a:extLst xmlns:a="http://schemas.openxmlformats.org/drawingml/2006/main">
              <a:ext uri="{FF2B5EF4-FFF2-40B4-BE49-F238E27FC236}">
                <a16:creationId xmlns:a16="http://schemas.microsoft.com/office/drawing/2014/main" id="{016C4074-072E-4163-9340-15D06FED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768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증거: 범위 동의·결제 확인</a:t>
            </a:r>
          </a:p>
        </p:txBody>
      </p:sp>
    </p:spTree>
    <p:extLst>
      <p:ext uri="{BB962C8B-B14F-4D97-AF65-F5344CB8AC3E}">
        <p14:creationId xmlns:p14="http://schemas.microsoft.com/office/powerpoint/2010/main" val="810466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py-25">
            <a:extLst xmlns:a="http://schemas.openxmlformats.org/drawingml/2006/main">
              <a:ext uri="{FF2B5EF4-FFF2-40B4-BE49-F238E27FC236}">
                <a16:creationId xmlns:a16="http://schemas.microsoft.com/office/drawing/2014/main" id="{30AD4804-4C87-4339-8E32-A07FEB08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02  /  MEASUREMENT</a:t>
            </a:r>
          </a:p>
        </p:txBody>
      </p:sp>
      <p:sp>
        <p:nvSpPr>
          <p:cNvPr id="2" name="copy-26">
            <a:extLst xmlns:a="http://schemas.openxmlformats.org/drawingml/2006/main">
              <a:ext uri="{FF2B5EF4-FFF2-40B4-BE49-F238E27FC236}">
                <a16:creationId xmlns:a16="http://schemas.microsoft.com/office/drawing/2014/main" id="{BA7121BE-9732-42EF-9190-6DFDFA7E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27">
            <a:extLst xmlns:a="http://schemas.openxmlformats.org/drawingml/2006/main">
              <a:ext uri="{FF2B5EF4-FFF2-40B4-BE49-F238E27FC236}">
                <a16:creationId xmlns:a16="http://schemas.microsoft.com/office/drawing/2014/main" id="{7F4A3083-243E-4CC3-BF24-1B90ADC0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28">
            <a:extLst xmlns:a="http://schemas.openxmlformats.org/drawingml/2006/main">
              <a:ext uri="{FF2B5EF4-FFF2-40B4-BE49-F238E27FC236}">
                <a16:creationId xmlns:a16="http://schemas.microsoft.com/office/drawing/2014/main" id="{D9BAA0DA-93F2-449E-9E2F-424EC2CB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429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copy-29">
            <a:extLst xmlns:a="http://schemas.openxmlformats.org/drawingml/2006/main">
              <a:ext uri="{FF2B5EF4-FFF2-40B4-BE49-F238E27FC236}">
                <a16:creationId xmlns:a16="http://schemas.microsoft.com/office/drawing/2014/main" id="{7E7CBEBA-93AD-4A70-B6E8-B2E562E3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1102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전체 견적 대비 결제율을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주지표로 둔다</a:t>
            </a:r>
          </a:p>
        </p:txBody>
      </p:sp>
      <p:sp>
        <p:nvSpPr>
          <p:cNvPr id="6" name="copy-30">
            <a:extLst xmlns:a="http://schemas.openxmlformats.org/drawingml/2006/main">
              <a:ext uri="{FF2B5EF4-FFF2-40B4-BE49-F238E27FC236}">
                <a16:creationId xmlns:a16="http://schemas.microsoft.com/office/drawing/2014/main" id="{E35375CD-36D4-440C-9B93-602B1F35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가상 계산 사례 · 실제 swan 실적 및 업계 평균 아님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28650" y="2828925"/>
          <a:ext xmlns:a="http://schemas.openxmlformats.org/drawingml/2006/main" cx="10906125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1714500"/>
                <a:gridCol w="2762250"/>
                <a:gridCol w="2571750"/>
              </a:tblGrid>
              <a:tr h="428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marL="114300" marR="95250" marT="57150" marB="5715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건수</a:t>
                      </a:r>
                    </a:p>
                  </a:txBody>
                  <a:tcPr marL="114300" marR="95250" marT="57150" marB="5715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직전 단계 대비</a:t>
                      </a:r>
                    </a:p>
                  </a:txBody>
                  <a:tcPr marL="114300" marR="95250" marT="57150" marB="5715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견적 대비</a:t>
                      </a:r>
                    </a:p>
                  </a:txBody>
                  <a:tcPr marL="114300" marR="95250" marT="57150" marB="57150">
                    <a:solidFill>
                      <a:srgbClr val="11111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발송 확인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읽음 관측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고객 문의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범위 동의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66.7%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10.0%</a:t>
                      </a:r>
                    </a:p>
                  </a:txBody>
                  <a:tcPr marL="114300" marR="95250" marT="57150" marB="5715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결제 확인</a:t>
                      </a:r>
                    </a:p>
                  </a:txBody>
                  <a:tcPr marL="114300" marR="95250" marT="57150" marB="5715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</a:p>
                  </a:txBody>
                  <a:tcPr marL="114300" marR="95250" marT="57150" marB="5715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50.0%</a:t>
                      </a:r>
                    </a:p>
                  </a:txBody>
                  <a:tcPr marL="114300" marR="95250" marT="57150" marB="5715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Pretendard"/>
                          <a:ea typeface="Pretendard"/>
                          <a:cs typeface="Pretendard"/>
                        </a:rPr>
                        <a:t>5.0%</a:t>
                      </a:r>
                    </a:p>
                  </a:txBody>
                  <a:tcPr marL="114300" marR="95250" marT="57150" marB="5715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8" name="copy-31">
            <a:extLst xmlns:a="http://schemas.openxmlformats.org/drawingml/2006/main">
              <a:ext uri="{FF2B5EF4-FFF2-40B4-BE49-F238E27FC236}">
                <a16:creationId xmlns:a16="http://schemas.microsoft.com/office/drawing/2014/main" id="{A57B98AE-F042-43A5-9E5F-C93E6362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같은 집단을 같은 기간 관찰한다.  단계별 순서를 모두 거친 가상 사례다.</a:t>
            </a:r>
          </a:p>
        </p:txBody>
      </p:sp>
    </p:spTree>
    <p:extLst>
      <p:ext uri="{BB962C8B-B14F-4D97-AF65-F5344CB8AC3E}">
        <p14:creationId xmlns:p14="http://schemas.microsoft.com/office/powerpoint/2010/main" val="585870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py-32">
            <a:extLst xmlns:a="http://schemas.openxmlformats.org/drawingml/2006/main">
              <a:ext uri="{FF2B5EF4-FFF2-40B4-BE49-F238E27FC236}">
                <a16:creationId xmlns:a16="http://schemas.microsoft.com/office/drawing/2014/main" id="{0CEA6B6F-5B7C-4124-9359-F42B1580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03  /  INTERPRETATION</a:t>
            </a:r>
          </a:p>
        </p:txBody>
      </p:sp>
      <p:sp>
        <p:nvSpPr>
          <p:cNvPr id="2" name="copy-33">
            <a:extLst xmlns:a="http://schemas.openxmlformats.org/drawingml/2006/main">
              <a:ext uri="{FF2B5EF4-FFF2-40B4-BE49-F238E27FC236}">
                <a16:creationId xmlns:a16="http://schemas.microsoft.com/office/drawing/2014/main" id="{1BCFBD8A-EE3F-4130-8386-A831161E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34">
            <a:extLst xmlns:a="http://schemas.openxmlformats.org/drawingml/2006/main">
              <a:ext uri="{FF2B5EF4-FFF2-40B4-BE49-F238E27FC236}">
                <a16:creationId xmlns:a16="http://schemas.microsoft.com/office/drawing/2014/main" id="{FDE19957-6352-430B-BED6-1B67FC1A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35">
            <a:extLst xmlns:a="http://schemas.openxmlformats.org/drawingml/2006/main">
              <a:ext uri="{FF2B5EF4-FFF2-40B4-BE49-F238E27FC236}">
                <a16:creationId xmlns:a16="http://schemas.microsoft.com/office/drawing/2014/main" id="{982253ED-B1DD-4E5C-A6AF-E228121A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429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copy-36">
            <a:extLst xmlns:a="http://schemas.openxmlformats.org/drawingml/2006/main">
              <a:ext uri="{FF2B5EF4-FFF2-40B4-BE49-F238E27FC236}">
                <a16:creationId xmlns:a16="http://schemas.microsoft.com/office/drawing/2014/main" id="{4A2714F6-5A2B-478E-8750-5811F95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1102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낮은 전환율은 관찰 결과다.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원인을 단정하는 근거는 아니다.</a:t>
            </a:r>
          </a:p>
        </p:txBody>
      </p:sp>
      <p:sp>
        <p:nvSpPr>
          <p:cNvPr id="6" name="copy-37">
            <a:extLst xmlns:a="http://schemas.openxmlformats.org/drawingml/2006/main">
              <a:ext uri="{FF2B5EF4-FFF2-40B4-BE49-F238E27FC236}">
                <a16:creationId xmlns:a16="http://schemas.microsoft.com/office/drawing/2014/main" id="{41D725AD-2A8B-4FF2-B696-676A68F2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481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측정할 것</a:t>
            </a:r>
          </a:p>
        </p:txBody>
      </p:sp>
      <p:sp>
        <p:nvSpPr>
          <p:cNvPr id="7" name="copy-38">
            <a:extLst xmlns:a="http://schemas.openxmlformats.org/drawingml/2006/main">
              <a:ext uri="{FF2B5EF4-FFF2-40B4-BE49-F238E27FC236}">
                <a16:creationId xmlns:a16="http://schemas.microsoft.com/office/drawing/2014/main" id="{BE664E55-D7B9-434A-93F9-5C3472DE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고객·요청별 첫 견적을 기준으로 집계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시스템 알림과 실제 답장을 분리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결제 확인과 결제 의향을 구분</a:t>
            </a:r>
          </a:p>
        </p:txBody>
      </p:sp>
      <p:sp>
        <p:nvSpPr>
          <p:cNvPr id="8" name="copy-39">
            <a:extLst xmlns:a="http://schemas.openxmlformats.org/drawingml/2006/main">
              <a:ext uri="{FF2B5EF4-FFF2-40B4-BE49-F238E27FC236}">
                <a16:creationId xmlns:a16="http://schemas.microsoft.com/office/drawing/2014/main" id="{375232DC-A460-417E-835D-A663AC29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분리해 볼 것</a:t>
            </a:r>
          </a:p>
        </p:txBody>
      </p:sp>
      <p:sp>
        <p:nvSpPr>
          <p:cNvPr id="9" name="copy-40">
            <a:extLst xmlns:a="http://schemas.openxmlformats.org/drawingml/2006/main">
              <a:ext uri="{FF2B5EF4-FFF2-40B4-BE49-F238E27FC236}">
                <a16:creationId xmlns:a16="http://schemas.microsoft.com/office/drawing/2014/main" id="{A31C59BE-39EF-445F-8209-287EA98C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81425"/>
            <a:ext cx="5000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읽음 미관측 ≠ 미열람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관찰 기간 미경과 ≠ 미결제 확정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결제액 ≠ 비용을 뺀 순이익</a:t>
            </a:r>
          </a:p>
        </p:txBody>
      </p:sp>
      <p:sp>
        <p:nvSpPr>
          <p:cNvPr id="10" name="copy-41">
            <a:extLst xmlns:a="http://schemas.openxmlformats.org/drawingml/2006/main">
              <a:ext uri="{FF2B5EF4-FFF2-40B4-BE49-F238E27FC236}">
                <a16:creationId xmlns:a16="http://schemas.microsoft.com/office/drawing/2014/main" id="{B31E6ED8-D537-4609-B3AF-5E94893D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문의 누락과 기록 오류를 먼저 확인한 뒤, 고객 대화로 원인 가설을 좁힌다.</a:t>
            </a:r>
          </a:p>
        </p:txBody>
      </p:sp>
    </p:spTree>
    <p:extLst>
      <p:ext uri="{BB962C8B-B14F-4D97-AF65-F5344CB8AC3E}">
        <p14:creationId xmlns:p14="http://schemas.microsoft.com/office/powerpoint/2010/main" val="2135571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py-42">
            <a:extLst xmlns:a="http://schemas.openxmlformats.org/drawingml/2006/main">
              <a:ext uri="{FF2B5EF4-FFF2-40B4-BE49-F238E27FC236}">
                <a16:creationId xmlns:a16="http://schemas.microsoft.com/office/drawing/2014/main" id="{53B9F55F-363E-4578-882E-5EB1AA97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04  /  CUSTOMER RESPONSE</a:t>
            </a:r>
          </a:p>
        </p:txBody>
      </p:sp>
      <p:sp>
        <p:nvSpPr>
          <p:cNvPr id="2" name="copy-43">
            <a:extLst xmlns:a="http://schemas.openxmlformats.org/drawingml/2006/main">
              <a:ext uri="{FF2B5EF4-FFF2-40B4-BE49-F238E27FC236}">
                <a16:creationId xmlns:a16="http://schemas.microsoft.com/office/drawing/2014/main" id="{AD54D1DA-1E60-4160-BB75-9D0E1A1F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44">
            <a:extLst xmlns:a="http://schemas.openxmlformats.org/drawingml/2006/main">
              <a:ext uri="{FF2B5EF4-FFF2-40B4-BE49-F238E27FC236}">
                <a16:creationId xmlns:a16="http://schemas.microsoft.com/office/drawing/2014/main" id="{AE88D787-09F3-4362-9D59-209CEE8C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45">
            <a:extLst xmlns:a="http://schemas.openxmlformats.org/drawingml/2006/main">
              <a:ext uri="{FF2B5EF4-FFF2-40B4-BE49-F238E27FC236}">
                <a16:creationId xmlns:a16="http://schemas.microsoft.com/office/drawing/2014/main" id="{4C7CC1A7-841A-4747-B0FC-56BB969D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429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copy-46">
            <a:extLst xmlns:a="http://schemas.openxmlformats.org/drawingml/2006/main">
              <a:ext uri="{FF2B5EF4-FFF2-40B4-BE49-F238E27FC236}">
                <a16:creationId xmlns:a16="http://schemas.microsoft.com/office/drawing/2014/main" id="{0CE97666-1B45-429E-B93D-E72CD16F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1102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고객이 묻는 일정부터 답한다</a:t>
            </a:r>
          </a:p>
        </p:txBody>
      </p:sp>
      <p:sp>
        <p:nvSpPr>
          <p:cNvPr id="6" name="copy-47">
            <a:extLst xmlns:a="http://schemas.openxmlformats.org/drawingml/2006/main">
              <a:ext uri="{FF2B5EF4-FFF2-40B4-BE49-F238E27FC236}">
                <a16:creationId xmlns:a16="http://schemas.microsoft.com/office/drawing/2014/main" id="{B116CBEB-9FEE-4843-AA7D-3D040141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원본을 받기 전 · 응대 예시</a:t>
            </a:r>
          </a:p>
        </p:txBody>
      </p:sp>
      <p:sp>
        <p:nvSpPr>
          <p:cNvPr id="7" name="copy-48">
            <a:extLst xmlns:a="http://schemas.openxmlformats.org/drawingml/2006/main">
              <a:ext uri="{FF2B5EF4-FFF2-40B4-BE49-F238E27FC236}">
                <a16:creationId xmlns:a16="http://schemas.microsoft.com/office/drawing/2014/main" id="{5CECE944-7224-4223-B7BB-3D933566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10858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“원본 분량을 아직 못 봐서 완료 시각은</a:t>
            </a:r>
          </a:p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파일을 확인한 뒤 말씀드릴게요.</a:t>
            </a:r>
          </a:p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보고서와 필요한 슬라이드 수, 발표 시간을 보내주시면</a:t>
            </a:r>
          </a:p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가능한 일정부터 먼저 확인하겠습니다.”</a:t>
            </a:r>
          </a:p>
        </p:txBody>
      </p:sp>
      <p:sp>
        <p:nvSpPr>
          <p:cNvPr id="8" name="copy-49">
            <a:extLst xmlns:a="http://schemas.openxmlformats.org/drawingml/2006/main">
              <a:ext uri="{FF2B5EF4-FFF2-40B4-BE49-F238E27FC236}">
                <a16:creationId xmlns:a16="http://schemas.microsoft.com/office/drawing/2014/main" id="{56EC3530-9754-4FA2-B2F8-3488ADBE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0067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이미 가능한 일정을 확인했다면 그 일정을 첫 문장에 제시한다.</a:t>
            </a:r>
          </a:p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받은 자료를 다시 요청하거나, 확인하지 않은 당일 납품을 약속하지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064201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py-50">
            <a:extLst xmlns:a="http://schemas.openxmlformats.org/drawingml/2006/main">
              <a:ext uri="{FF2B5EF4-FFF2-40B4-BE49-F238E27FC236}">
                <a16:creationId xmlns:a16="http://schemas.microsoft.com/office/drawing/2014/main" id="{ED523C4A-6107-4848-8B4C-0BE3243E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05  /  EXPERIMENT</a:t>
            </a:r>
          </a:p>
        </p:txBody>
      </p:sp>
      <p:sp>
        <p:nvSpPr>
          <p:cNvPr id="2" name="copy-51">
            <a:extLst xmlns:a="http://schemas.openxmlformats.org/drawingml/2006/main">
              <a:ext uri="{FF2B5EF4-FFF2-40B4-BE49-F238E27FC236}">
                <a16:creationId xmlns:a16="http://schemas.microsoft.com/office/drawing/2014/main" id="{3B15AA8C-036A-4F1D-8CB9-FCF1A798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6B6B6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52">
            <a:extLst xmlns:a="http://schemas.openxmlformats.org/drawingml/2006/main">
              <a:ext uri="{FF2B5EF4-FFF2-40B4-BE49-F238E27FC236}">
                <a16:creationId xmlns:a16="http://schemas.microsoft.com/office/drawing/2014/main" id="{5EAAAB03-9DC3-455C-8699-F4429B50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53">
            <a:extLst xmlns:a="http://schemas.openxmlformats.org/drawingml/2006/main">
              <a:ext uri="{FF2B5EF4-FFF2-40B4-BE49-F238E27FC236}">
                <a16:creationId xmlns:a16="http://schemas.microsoft.com/office/drawing/2014/main" id="{A3919448-7EB1-4C12-BEC9-E34F9269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429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copy-54">
            <a:extLst xmlns:a="http://schemas.openxmlformats.org/drawingml/2006/main">
              <a:ext uri="{FF2B5EF4-FFF2-40B4-BE49-F238E27FC236}">
                <a16:creationId xmlns:a16="http://schemas.microsoft.com/office/drawing/2014/main" id="{D1637600-C432-4C83-B79A-B2E3199C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14425"/>
            <a:ext cx="1102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샘플 제공의 효과는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한 변수만 바꿔 비교한다</a:t>
            </a:r>
          </a:p>
        </p:txBody>
      </p:sp>
      <p:sp>
        <p:nvSpPr>
          <p:cNvPr id="6" name="copy-55">
            <a:extLst xmlns:a="http://schemas.openxmlformats.org/drawingml/2006/main">
              <a:ext uri="{FF2B5EF4-FFF2-40B4-BE49-F238E27FC236}">
                <a16:creationId xmlns:a16="http://schemas.microsoft.com/office/drawing/2014/main" id="{01105F01-C3C6-4FE7-A751-9B59F4AA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7" name="copy-56">
            <a:extLst xmlns:a="http://schemas.openxmlformats.org/drawingml/2006/main">
              <a:ext uri="{FF2B5EF4-FFF2-40B4-BE49-F238E27FC236}">
                <a16:creationId xmlns:a16="http://schemas.microsoft.com/office/drawing/2014/main" id="{F373036E-4A80-4D7C-9791-C027DFA0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기존 견적</a:t>
            </a:r>
          </a:p>
        </p:txBody>
      </p:sp>
      <p:sp>
        <p:nvSpPr>
          <p:cNvPr id="8" name="copy-57">
            <a:extLst xmlns:a="http://schemas.openxmlformats.org/drawingml/2006/main">
              <a:ext uri="{FF2B5EF4-FFF2-40B4-BE49-F238E27FC236}">
                <a16:creationId xmlns:a16="http://schemas.microsoft.com/office/drawing/2014/main" id="{81454BAC-F954-4310-AB0E-7ADDA2DB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B</a:t>
            </a:r>
          </a:p>
        </p:txBody>
      </p:sp>
      <p:sp>
        <p:nvSpPr>
          <p:cNvPr id="9" name="copy-58">
            <a:extLst xmlns:a="http://schemas.openxmlformats.org/drawingml/2006/main">
              <a:ext uri="{FF2B5EF4-FFF2-40B4-BE49-F238E27FC236}">
                <a16:creationId xmlns:a16="http://schemas.microsoft.com/office/drawing/2014/main" id="{277370BD-CFC4-4B86-9734-1199C5E3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956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같은 견적 + 관련 샘플 1개</a:t>
            </a:r>
          </a:p>
        </p:txBody>
      </p:sp>
      <p:sp>
        <p:nvSpPr>
          <p:cNvPr id="10" name="copy-59">
            <a:extLst xmlns:a="http://schemas.openxmlformats.org/drawingml/2006/main">
              <a:ext uri="{FF2B5EF4-FFF2-40B4-BE49-F238E27FC236}">
                <a16:creationId xmlns:a16="http://schemas.microsoft.com/office/drawing/2014/main" id="{97D26DD7-D2CF-4CCF-AE31-A1453014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같은 서비스 안에서 고객 단위 무작위 배정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가격·범위·후속 연락 정책은 동일하게 유지</a:t>
            </a:r>
          </a:p>
        </p:txBody>
      </p:sp>
      <p:sp>
        <p:nvSpPr>
          <p:cNvPr id="11" name="copy-60">
            <a:extLst xmlns:a="http://schemas.openxmlformats.org/drawingml/2006/main">
              <a:ext uri="{FF2B5EF4-FFF2-40B4-BE49-F238E27FC236}">
                <a16:creationId xmlns:a16="http://schemas.microsoft.com/office/drawing/2014/main" id="{8DBDA1BE-6B1F-45E3-8956-0FF2ECC0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1081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주지표: 견적 발송 후 7일 이내 결제 확인 비율</a:t>
            </a:r>
          </a:p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7일은 이 샘플의 제안이다. 표본수·종료 기준은 실험 전에 별도로 확정한다.</a:t>
            </a:r>
          </a:p>
        </p:txBody>
      </p:sp>
    </p:spTree>
    <p:extLst>
      <p:ext uri="{BB962C8B-B14F-4D97-AF65-F5344CB8AC3E}">
        <p14:creationId xmlns:p14="http://schemas.microsoft.com/office/powerpoint/2010/main" val="17876380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py-61">
            <a:extLst xmlns:a="http://schemas.openxmlformats.org/drawingml/2006/main">
              <a:ext uri="{FF2B5EF4-FFF2-40B4-BE49-F238E27FC236}">
                <a16:creationId xmlns:a16="http://schemas.microsoft.com/office/drawing/2014/main" id="{0BD9BC02-63DB-4573-8DB4-5AB61E1B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06  /  EXECUTION</a:t>
            </a:r>
          </a:p>
        </p:txBody>
      </p:sp>
      <p:sp>
        <p:nvSpPr>
          <p:cNvPr id="2" name="copy-62">
            <a:extLst xmlns:a="http://schemas.openxmlformats.org/drawingml/2006/main">
              <a:ext uri="{FF2B5EF4-FFF2-40B4-BE49-F238E27FC236}">
                <a16:creationId xmlns:a16="http://schemas.microsoft.com/office/drawing/2014/main" id="{054BC486-38AE-4612-9FC7-3DF42540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200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77777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777777"/>
                </a:solidFill>
                <a:latin typeface="Pretendard"/>
                <a:ea typeface="Pretendard"/>
                <a:cs typeface="Pretendard"/>
              </a:rPr>
              <a:t>swan · SAMPLE</a:t>
            </a:r>
          </a:p>
        </p:txBody>
      </p:sp>
      <p:sp>
        <p:nvSpPr>
          <p:cNvPr id="3" name="copy-63">
            <a:extLst xmlns:a="http://schemas.openxmlformats.org/drawingml/2006/main">
              <a:ext uri="{FF2B5EF4-FFF2-40B4-BE49-F238E27FC236}">
                <a16:creationId xmlns:a16="http://schemas.microsoft.com/office/drawing/2014/main" id="{C200F165-A973-4E81-8313-EE7048AB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AAAA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AAAAAA"/>
                </a:solidFill>
                <a:latin typeface="Pretendard"/>
                <a:ea typeface="Pretendard"/>
                <a:cs typeface="Pretendard"/>
              </a:rPr>
              <a:t>자체 제작 운영 설계 · 실제 성과 분석 아님</a:t>
            </a:r>
          </a:p>
        </p:txBody>
      </p:sp>
      <p:sp>
        <p:nvSpPr>
          <p:cNvPr id="4" name="copy-64">
            <a:extLst xmlns:a="http://schemas.openxmlformats.org/drawingml/2006/main">
              <a:ext uri="{FF2B5EF4-FFF2-40B4-BE49-F238E27FC236}">
                <a16:creationId xmlns:a16="http://schemas.microsoft.com/office/drawing/2014/main" id="{69EB0C9D-02CA-452B-9FA1-BB8C0B70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429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copy-65">
            <a:extLst xmlns:a="http://schemas.openxmlformats.org/drawingml/2006/main">
              <a:ext uri="{FF2B5EF4-FFF2-40B4-BE49-F238E27FC236}">
                <a16:creationId xmlns:a16="http://schemas.microsoft.com/office/drawing/2014/main" id="{B634ADBC-8C5D-4F23-BFA8-5C439204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09675"/>
            <a:ext cx="1104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샘플은 약속을 보여주고,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검수는 그 약속을 지킨다.</a:t>
            </a:r>
          </a:p>
        </p:txBody>
      </p:sp>
      <p:sp>
        <p:nvSpPr>
          <p:cNvPr id="6" name="copy-66">
            <a:extLst xmlns:a="http://schemas.openxmlformats.org/drawingml/2006/main">
              <a:ext uri="{FF2B5EF4-FFF2-40B4-BE49-F238E27FC236}">
                <a16:creationId xmlns:a16="http://schemas.microsoft.com/office/drawing/2014/main" id="{564F5A53-89CC-4311-A8F2-FFE7EB1A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861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운영</a:t>
            </a:r>
          </a:p>
        </p:txBody>
      </p:sp>
      <p:sp>
        <p:nvSpPr>
          <p:cNvPr id="7" name="copy-67">
            <a:extLst xmlns:a="http://schemas.openxmlformats.org/drawingml/2006/main">
              <a:ext uri="{FF2B5EF4-FFF2-40B4-BE49-F238E27FC236}">
                <a16:creationId xmlns:a16="http://schemas.microsoft.com/office/drawing/2014/main" id="{B3E25EBF-24E5-4BC8-B01E-AD2CEA96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8610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rPr>
              <a:t>미답변·중복·실패 발송 점검</a:t>
            </a:r>
          </a:p>
        </p:txBody>
      </p:sp>
      <p:sp>
        <p:nvSpPr>
          <p:cNvPr id="8" name="copy-68">
            <a:extLst xmlns:a="http://schemas.openxmlformats.org/drawingml/2006/main">
              <a:ext uri="{FF2B5EF4-FFF2-40B4-BE49-F238E27FC236}">
                <a16:creationId xmlns:a16="http://schemas.microsoft.com/office/drawing/2014/main" id="{693266DF-778F-41F8-8C97-D09F0FB7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제작</a:t>
            </a:r>
          </a:p>
        </p:txBody>
      </p:sp>
      <p:sp>
        <p:nvSpPr>
          <p:cNvPr id="9" name="copy-69">
            <a:extLst xmlns:a="http://schemas.openxmlformats.org/drawingml/2006/main">
              <a:ext uri="{FF2B5EF4-FFF2-40B4-BE49-F238E27FC236}">
                <a16:creationId xmlns:a16="http://schemas.microsoft.com/office/drawing/2014/main" id="{8F169A15-28E6-4F3F-BBB5-5A2282A5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1475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rPr>
              <a:t>샘플과 실제 제공 범위의 일치 확인</a:t>
            </a:r>
          </a:p>
        </p:txBody>
      </p:sp>
      <p:sp>
        <p:nvSpPr>
          <p:cNvPr id="10" name="copy-70">
            <a:extLst xmlns:a="http://schemas.openxmlformats.org/drawingml/2006/main">
              <a:ext uri="{FF2B5EF4-FFF2-40B4-BE49-F238E27FC236}">
                <a16:creationId xmlns:a16="http://schemas.microsoft.com/office/drawing/2014/main" id="{8A5A89BC-CF54-468B-B696-F75EA2B0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434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검수</a:t>
            </a:r>
          </a:p>
        </p:txBody>
      </p:sp>
      <p:sp>
        <p:nvSpPr>
          <p:cNvPr id="11" name="copy-71">
            <a:extLst xmlns:a="http://schemas.openxmlformats.org/drawingml/2006/main">
              <a:ext uri="{FF2B5EF4-FFF2-40B4-BE49-F238E27FC236}">
                <a16:creationId xmlns:a16="http://schemas.microsoft.com/office/drawing/2014/main" id="{A14F0225-F255-427F-8EB1-45E01EA8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4340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rPr>
              <a:t>내용·파일 열림·전 페이지 시각 확인</a:t>
            </a:r>
          </a:p>
        </p:txBody>
      </p:sp>
      <p:sp>
        <p:nvSpPr>
          <p:cNvPr id="12" name="copy-72">
            <a:extLst xmlns:a="http://schemas.openxmlformats.org/drawingml/2006/main">
              <a:ext uri="{FF2B5EF4-FFF2-40B4-BE49-F238E27FC236}">
                <a16:creationId xmlns:a16="http://schemas.microsoft.com/office/drawing/2014/main" id="{0A9236C6-E51A-476D-A268-CDB26282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72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책임자</a:t>
            </a:r>
          </a:p>
        </p:txBody>
      </p:sp>
      <p:sp>
        <p:nvSpPr>
          <p:cNvPr id="13" name="copy-73">
            <a:extLst xmlns:a="http://schemas.openxmlformats.org/drawingml/2006/main">
              <a:ext uri="{FF2B5EF4-FFF2-40B4-BE49-F238E27FC236}">
                <a16:creationId xmlns:a16="http://schemas.microsoft.com/office/drawing/2014/main" id="{F07DEEB1-1936-499F-A07B-A29EB81A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7205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DDDDD"/>
                </a:solidFill>
                <a:latin typeface="Pretendard"/>
                <a:ea typeface="Pretendard"/>
                <a:cs typeface="Pretendard"/>
              </a:rPr>
              <a:t>성숙 표본과 비용을 보고 다음 변경 1개 결정</a:t>
            </a:r>
          </a:p>
        </p:txBody>
      </p:sp>
      <p:sp>
        <p:nvSpPr>
          <p:cNvPr id="14" name="copy-74">
            <a:extLst xmlns:a="http://schemas.openxmlformats.org/drawingml/2006/main">
              <a:ext uri="{FF2B5EF4-FFF2-40B4-BE49-F238E27FC236}">
                <a16:creationId xmlns:a16="http://schemas.microsoft.com/office/drawing/2014/main" id="{84720372-8902-4562-9EDE-12616D1D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잘못된 금액·깨진 링크·응대 누락이 나오면 해당 자동 안내를 중단한다.</a:t>
            </a:r>
          </a:p>
        </p:txBody>
      </p:sp>
    </p:spTree>
    <p:extLst>
      <p:ext uri="{BB962C8B-B14F-4D97-AF65-F5344CB8AC3E}">
        <p14:creationId xmlns:p14="http://schemas.microsoft.com/office/powerpoint/2010/main" val="9749303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2026-09-23T12:47:46.1000000Z</dcterms:created>
  <dcterms:modified xsi:type="dcterms:W3CDTF">2026-09-23T12:47:46.1000000Z</dcterms:modified>
</coreProperties>
</file>