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a1b786413842d8" /><Relationship Type="http://schemas.openxmlformats.org/officeDocument/2006/relationships/extended-properties" Target="/docProps/app.xml" Id="R85207092a4584ec5" /><Relationship Type="http://schemas.openxmlformats.org/officeDocument/2006/relationships/officeDocument" Target="/ppt/presentation.xml" Id="R52dfd3f7fcd945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6931ba82144295"/>
  </p:sldMasterIdLst>
  <p:notesMasterIdLst>
    <p:notesMasterId xmlns:r="http://schemas.openxmlformats.org/officeDocument/2006/relationships" r:id="R9f2e3282d10b47c8"/>
  </p:notesMasterIdLst>
  <p:sldIdLst>
    <p:sldId xmlns:r="http://schemas.openxmlformats.org/officeDocument/2006/relationships" id="256" r:id="Rce23ed9ffe0d447c"/>
    <p:sldId xmlns:r="http://schemas.openxmlformats.org/officeDocument/2006/relationships" id="257" r:id="R27f70793e7454187"/>
    <p:sldId xmlns:r="http://schemas.openxmlformats.org/officeDocument/2006/relationships" id="258" r:id="R7adeb6a9eb4b4c5a"/>
    <p:sldId xmlns:r="http://schemas.openxmlformats.org/officeDocument/2006/relationships" id="259" r:id="R0348900ebff44182"/>
    <p:sldId xmlns:r="http://schemas.openxmlformats.org/officeDocument/2006/relationships" id="260" r:id="Rcf0796bb956144f3"/>
    <p:sldId xmlns:r="http://schemas.openxmlformats.org/officeDocument/2006/relationships" id="261" r:id="Rf64c1d93cf08442a"/>
    <p:sldId xmlns:r="http://schemas.openxmlformats.org/officeDocument/2006/relationships" id="262" r:id="Ra1a7f065be3849a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ca569d203b4204" /><Relationship Type="http://schemas.openxmlformats.org/officeDocument/2006/relationships/slideMaster" Target="/ppt/slideMasters/slideMaster1.xml" Id="Rd06931ba82144295" /><Relationship Type="http://schemas.openxmlformats.org/officeDocument/2006/relationships/notesMaster" Target="/ppt/notesMasters/notesMaster1.xml" Id="R9f2e3282d10b47c8" /><Relationship Type="http://schemas.openxmlformats.org/officeDocument/2006/relationships/presProps" Target="/ppt/presProps.xml" Id="R276870e4f5394d96" /><Relationship Type="http://schemas.openxmlformats.org/officeDocument/2006/relationships/tableStyles" Target="/ppt/tableStyles.xml" Id="Rb44849538e4647c4" /><Relationship Type="http://schemas.openxmlformats.org/officeDocument/2006/relationships/slide" Target="/ppt/slides/slide1.xml" Id="Rce23ed9ffe0d447c" /><Relationship Type="http://schemas.openxmlformats.org/officeDocument/2006/relationships/slide" Target="/ppt/slides/slide2.xml" Id="R27f70793e7454187" /><Relationship Type="http://schemas.openxmlformats.org/officeDocument/2006/relationships/slide" Target="/ppt/slides/slide3.xml" Id="R7adeb6a9eb4b4c5a" /><Relationship Type="http://schemas.openxmlformats.org/officeDocument/2006/relationships/slide" Target="/ppt/slides/slide4.xml" Id="R0348900ebff44182" /><Relationship Type="http://schemas.openxmlformats.org/officeDocument/2006/relationships/slide" Target="/ppt/slides/slide5.xml" Id="Rcf0796bb956144f3" /><Relationship Type="http://schemas.openxmlformats.org/officeDocument/2006/relationships/slide" Target="/ppt/slides/slide6.xml" Id="Rf64c1d93cf08442a" /><Relationship Type="http://schemas.openxmlformats.org/officeDocument/2006/relationships/slide" Target="/ppt/slides/slide7.xml" Id="Ra1a7f065be3849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38ade4de0f40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ba592bec6040c1" /><Relationship Type="http://schemas.openxmlformats.org/officeDocument/2006/relationships/notesMaster" Target="/ppt/notesMasters/notesMaster1.xml" Id="R6faa3185bd4848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abbb5878e04f30" /><Relationship Type="http://schemas.openxmlformats.org/officeDocument/2006/relationships/notesMaster" Target="/ppt/notesMasters/notesMaster1.xml" Id="R954e3302780046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c724f663624820" /><Relationship Type="http://schemas.openxmlformats.org/officeDocument/2006/relationships/notesMaster" Target="/ppt/notesMasters/notesMaster1.xml" Id="R2ebe414166fb4f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7d4435e75c47be" /><Relationship Type="http://schemas.openxmlformats.org/officeDocument/2006/relationships/notesMaster" Target="/ppt/notesMasters/notesMaster1.xml" Id="R956efccfee6747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4a2a5726594ca6" /><Relationship Type="http://schemas.openxmlformats.org/officeDocument/2006/relationships/notesMaster" Target="/ppt/notesMasters/notesMaster1.xml" Id="R8dcc91bdc2c245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ba224dfb234906" /><Relationship Type="http://schemas.openxmlformats.org/officeDocument/2006/relationships/notesMaster" Target="/ppt/notesMasters/notesMaster1.xml" Id="R99e370249cd54bd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9023029cd6f4b37" /><Relationship Type="http://schemas.openxmlformats.org/officeDocument/2006/relationships/notesMaster" Target="/ppt/notesMasters/notesMaster1.xml" Id="Rc0418d6db15441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메로나 문서사무소 브랜딩 및 서비스 운영안. 가격·범위는 운영 기준이며 최종 견적은 자료 확인 후 확정합니다.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브랜드 문구는 고객용 상세페이지와 프로필 소개글에 맞춰 작성했습니다.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서비스 항목은 현재 SOOMGO_SELLABLE_CATALOG 20개를 기준으로 동기화합니다.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고객 여정은 상담 봇의 응답 순서와 릴레이 작업 큐의 상태 전이에 맞춥니다.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검수 1회는 최신 파일을 읽고 수정하여 새 버전을 저장하는 한 사이클입니다. 점수는 운영 기준입니다.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가격 표기는 오픈 기념 정책과 샘플 연결 정책을 설명하는 운영안입니다. 외부 평균가는 출처와 조사일 확인 후에만 제시합니다.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외부 프로필 저장은 숨고 계정 화면의 실제 저장 권한과 경로를 확인한 뒤 진행합니다. 이 파일은 로컬 상세페이지와 브랜딩 발표자료입니다.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f1c8e9c5c840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1fcc52061d42ad" /><Relationship Type="http://schemas.openxmlformats.org/officeDocument/2006/relationships/slideLayout" Target="/ppt/slideLayouts/slideLayout1.xml" Id="R608ad44d51fe41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8ad44d51fe41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3e7e70a2604615" /><Relationship Type="http://schemas.openxmlformats.org/officeDocument/2006/relationships/notesSlide" Target="/ppt/notesSlides/notesSlide1.xml" Id="R5babb4f1b78f40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a936c43728490f" /><Relationship Type="http://schemas.openxmlformats.org/officeDocument/2006/relationships/notesSlide" Target="/ppt/notesSlides/notesSlide2.xml" Id="R9cb0ee5d9b6e48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ca72acfb604466" /><Relationship Type="http://schemas.openxmlformats.org/officeDocument/2006/relationships/notesSlide" Target="/ppt/notesSlides/notesSlide3.xml" Id="R90e255f9cb0b4c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cc7fc031ef4b1f" /><Relationship Type="http://schemas.openxmlformats.org/officeDocument/2006/relationships/notesSlide" Target="/ppt/notesSlides/notesSlide4.xml" Id="R993bf72d7f5e49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ffbb5bd9d1405b" /><Relationship Type="http://schemas.openxmlformats.org/officeDocument/2006/relationships/notesSlide" Target="/ppt/notesSlides/notesSlide5.xml" Id="Rd643d82e5a5344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d963ede70141d8" /><Relationship Type="http://schemas.openxmlformats.org/officeDocument/2006/relationships/notesSlide" Target="/ppt/notesSlides/notesSlide6.xml" Id="Rc402add7c97c41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52d2d3d771419c" /><Relationship Type="http://schemas.openxmlformats.org/officeDocument/2006/relationships/notesSlide" Target="/ppt/notesSlides/notesSlide7.xml" Id="R38392ddd894546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6043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D0F7F9-CCDB-4F5D-A3E9-B8D2CB9C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DFF7E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DFF7EF"/>
                </a:solidFill>
                <a:latin typeface="Arial"/>
                <a:ea typeface="Arial"/>
                <a:cs typeface="Arial"/>
              </a:rPr>
              <a:t>메로나 문서사무소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3733BB-F696-4053-94B2-E4FF547A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요청한 파일을</a:t>
            </a:r>
          </a:p>
          <a:p xmlns:a="http://schemas.openxmlformats.org/drawingml/2006/main">
            <a:pPr>
              <a:defRPr sz="4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확인 가능한 결과물로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3F1B1E-620D-4A0A-9FB2-B5A46841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EDEA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EDEAFF"/>
                </a:solidFill>
                <a:latin typeface="Arial"/>
                <a:ea typeface="Arial"/>
                <a:cs typeface="Arial"/>
              </a:rPr>
              <a:t>브랜딩 · 서비스 상세 · 고객 경험 운영안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B0C53A-9564-4221-8F6C-26B02493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4095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5038C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BB2E6E-5ABC-46D7-A841-F79454D8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4820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81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샘플 구매 가능</a:t>
            </a:r>
          </a:p>
          <a:p xmlns:a="http://schemas.openxmlformats.org/drawingml/2006/main">
            <a:pPr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판매가의 25%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BC9C18-2357-4F8B-89FC-604E3C04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CFC8FF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CFC8FF"/>
                </a:solidFill>
                <a:latin typeface="Arial"/>
                <a:ea typeface="Arial"/>
                <a:cs typeface="Arial"/>
              </a:rPr>
              <a:t>2026 · internal brand deck</a:t>
            </a:r>
          </a:p>
        </p:txBody>
      </p:sp>
    </p:spTree>
    <p:extLst>
      <p:ext uri="{BB962C8B-B14F-4D97-AF65-F5344CB8AC3E}">
        <p14:creationId xmlns:p14="http://schemas.microsoft.com/office/powerpoint/2010/main" val="16927566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1723DB-EA27-4731-8318-240A36B6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043E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043E7"/>
                </a:solidFill>
                <a:latin typeface="Arial"/>
                <a:ea typeface="Arial"/>
                <a:cs typeface="Arial"/>
              </a:rPr>
              <a:t>메로나 문서사무소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CA55BD-CE98-4A3E-9928-93E68302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00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867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86780"/>
                </a:solidFill>
                <a:latin typeface="Arial"/>
                <a:ea typeface="Arial"/>
                <a:cs typeface="Arial"/>
              </a:rPr>
              <a:t>01  브랜드 방향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D55346-9B6A-4208-981A-0E66F0CC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6F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7C78AF-F937-4B0E-A0AF-C12FFEDC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86780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86780"/>
                </a:solidFill>
                <a:latin typeface="Arial"/>
                <a:ea typeface="Arial"/>
                <a:cs typeface="Arial"/>
              </a:rPr>
              <a:t>문서 · 번역 · 영상 자막 ·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51B00E-7CD8-4664-873A-3DD65002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525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202034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202034"/>
                </a:solidFill>
                <a:latin typeface="Arial"/>
                <a:ea typeface="Arial"/>
                <a:cs typeface="Arial"/>
              </a:rPr>
              <a:t>브랜드가 약속하는 한 가지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C3A689-076D-48DB-A235-6FF500C3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8678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86780"/>
                </a:solidFill>
                <a:latin typeface="Arial"/>
                <a:ea typeface="Arial"/>
                <a:cs typeface="Arial"/>
              </a:rPr>
              <a:t>빠르게 만드는 것보다 고객이 바로 사용할 수 있는 파일을 전달합니다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8F33F1-88F1-467A-8F73-5D3F7431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38375"/>
            <a:ext cx="66675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C1322C-0EF1-4A09-BCE4-02E33AA0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6043E7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6043E7"/>
                </a:solidFill>
                <a:latin typeface="Arial"/>
                <a:ea typeface="Arial"/>
                <a:cs typeface="Arial"/>
              </a:rPr>
              <a:t>메로나 문서사무소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23C9C1-454C-492D-BC20-0C7D49B0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48000"/>
            <a:ext cx="533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202034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02034"/>
                </a:solidFill>
                <a:latin typeface="Arial"/>
                <a:ea typeface="Arial"/>
                <a:cs typeface="Arial"/>
              </a:rPr>
              <a:t>문서·번역·영상 자막을</a:t>
            </a:r>
          </a:p>
          <a:p xmlns:a="http://schemas.openxmlformats.org/drawingml/2006/main">
            <a:pPr>
              <a:defRPr sz="2025" b="1" i="0">
                <a:solidFill>
                  <a:srgbClr val="202034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02034"/>
                </a:solidFill>
                <a:latin typeface="Arial"/>
                <a:ea typeface="Arial"/>
                <a:cs typeface="Arial"/>
              </a:rPr>
              <a:t>요청 형식에 맞춰 제작하고</a:t>
            </a:r>
          </a:p>
          <a:p xmlns:a="http://schemas.openxmlformats.org/drawingml/2006/main">
            <a:pPr>
              <a:defRPr sz="2025" b="1" i="0">
                <a:solidFill>
                  <a:srgbClr val="202034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02034"/>
                </a:solidFill>
                <a:latin typeface="Arial"/>
                <a:ea typeface="Arial"/>
                <a:cs typeface="Arial"/>
              </a:rPr>
              <a:t>결과물 자체를 확인한 뒤 전달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4E7303-0914-4732-AE5A-8F7C5F2F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38375"/>
            <a:ext cx="37338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FF7E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8B091D-F7FD-4389-9526-F311BD90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28875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6043E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43E7"/>
                </a:solidFill>
                <a:latin typeface="Arial"/>
                <a:ea typeface="Arial"/>
                <a:cs typeface="Arial"/>
              </a:rPr>
              <a:t>고객이 보는 가치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201EA4-9A40-4230-8361-8BB2C37B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670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202034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202034"/>
                </a:solidFill>
                <a:latin typeface="Arial"/>
                <a:ea typeface="Arial"/>
                <a:cs typeface="Arial"/>
              </a:rPr>
              <a:t>결과물의 용도와 파일 형식이 분명하다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F2E2BF-7FB6-4E4C-9936-FD9F7AE3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43250"/>
            <a:ext cx="37338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201902-DF94-4329-B67C-99822B71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337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6043E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43E7"/>
                </a:solidFill>
                <a:latin typeface="Arial"/>
                <a:ea typeface="Arial"/>
                <a:cs typeface="Arial"/>
              </a:rPr>
              <a:t>운영 방식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996F28-B923-471D-93D9-3FCE427D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718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202034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202034"/>
                </a:solidFill>
                <a:latin typeface="Arial"/>
                <a:ea typeface="Arial"/>
                <a:cs typeface="Arial"/>
              </a:rPr>
              <a:t>초안부터 최종본까지 변경 이력이 남는다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79D5E7-C729-475F-87AD-EC19AA67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48125"/>
            <a:ext cx="37338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0D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A07667-5E4F-4C8F-8F38-1422AE77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38625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6043E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43E7"/>
                </a:solidFill>
                <a:latin typeface="Arial"/>
                <a:ea typeface="Arial"/>
                <a:cs typeface="Arial"/>
              </a:rPr>
              <a:t>대화의 기준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543BE6-5787-4193-8445-CA41FAB7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4767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250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202034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202034"/>
                </a:solidFill>
                <a:latin typeface="Arial"/>
                <a:ea typeface="Arial"/>
                <a:cs typeface="Arial"/>
              </a:rPr>
              <a:t>모르는 내용은 확인하고 같은 질문을 반복하지 않는다</a:t>
            </a:r>
          </a:p>
        </p:txBody>
      </p:sp>
    </p:spTree>
    <p:extLst>
      <p:ext uri="{BB962C8B-B14F-4D97-AF65-F5344CB8AC3E}">
        <p14:creationId xmlns:p14="http://schemas.microsoft.com/office/powerpoint/2010/main" val="8908550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224578-67C9-40EB-AA25-2D4A7746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043E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043E7"/>
                </a:solidFill>
                <a:latin typeface="Arial"/>
                <a:ea typeface="Arial"/>
                <a:cs typeface="Arial"/>
              </a:rPr>
              <a:t>메로나 문서사무소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8655CA-E574-455E-8E6B-557E5C3C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00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867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86780"/>
                </a:solidFill>
                <a:latin typeface="Arial"/>
                <a:ea typeface="Arial"/>
                <a:cs typeface="Arial"/>
              </a:rPr>
              <a:t>02  서비스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F02E24-0344-4C78-803E-1B4355FB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6F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04FD74-315D-4F9C-B06D-E2807492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86780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86780"/>
                </a:solidFill>
                <a:latin typeface="Arial"/>
                <a:ea typeface="Arial"/>
                <a:cs typeface="Arial"/>
              </a:rPr>
              <a:t>문서 · 번역 · 영상 자막 ·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033D86-C8C1-4449-A916-BC51DD4F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525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202034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202034"/>
                </a:solidFill>
                <a:latin typeface="Arial"/>
                <a:ea typeface="Arial"/>
                <a:cs typeface="Arial"/>
              </a:rPr>
              <a:t>고객 요청을 네 가지 축으로 정리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8F713C-6545-4E85-A89C-A4CCCF98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8678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86780"/>
                </a:solidFill>
                <a:latin typeface="Arial"/>
                <a:ea typeface="Arial"/>
                <a:cs typeface="Arial"/>
              </a:rPr>
              <a:t>상품명은 고객이 이해하는 표현을 사용하고, 내부 시스템명은 외부에 노출하지 않습니다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182E17-B4AC-4A2C-A867-EDF645EC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24765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893927-B71D-42F6-AFF6-D6AF9D9D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6043E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6043E7"/>
                </a:solidFill>
                <a:latin typeface="Arial"/>
                <a:ea typeface="Arial"/>
                <a:cs typeface="Arial"/>
              </a:rPr>
              <a:t>문서·글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80EF22-CC4E-46D5-90A7-0D8E4842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90875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20203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02034"/>
                </a:solidFill>
                <a:latin typeface="Arial"/>
                <a:ea typeface="Arial"/>
                <a:cs typeface="Arial"/>
              </a:rPr>
              <a:t>보고서·레포트 편집</a:t>
            </a:r>
          </a:p>
          <a:p xmlns:a="http://schemas.openxmlformats.org/drawingml/2006/main">
            <a:pPr>
              <a:defRPr sz="1350" b="0" i="0">
                <a:solidFill>
                  <a:srgbClr val="20203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02034"/>
                </a:solidFill>
                <a:latin typeface="Arial"/>
                <a:ea typeface="Arial"/>
                <a:cs typeface="Arial"/>
              </a:rPr>
              <a:t>업무 문서·매뉴얼</a:t>
            </a:r>
          </a:p>
          <a:p xmlns:a="http://schemas.openxmlformats.org/drawingml/2006/main">
            <a:pPr>
              <a:defRPr sz="1350" b="0" i="0">
                <a:solidFill>
                  <a:srgbClr val="20203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02034"/>
                </a:solidFill>
                <a:latin typeface="Arial"/>
                <a:ea typeface="Arial"/>
                <a:cs typeface="Arial"/>
              </a:rPr>
              <a:t>제안서·기획서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E3E031-8975-461C-88A8-C03A8999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81250"/>
            <a:ext cx="24765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DFF7E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A6CA2C-4C81-45A5-89D0-ED686127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67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6043E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6043E7"/>
                </a:solidFill>
                <a:latin typeface="Arial"/>
                <a:ea typeface="Arial"/>
                <a:cs typeface="Arial"/>
              </a:rPr>
              <a:t>자기소개서·이력서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79FD52-AF2C-45E4-9D00-6E8FC169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90875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20203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02034"/>
                </a:solidFill>
                <a:latin typeface="Arial"/>
                <a:ea typeface="Arial"/>
                <a:cs typeface="Arial"/>
              </a:rPr>
              <a:t>교정·윤문</a:t>
            </a:r>
          </a:p>
          <a:p xmlns:a="http://schemas.openxmlformats.org/drawingml/2006/main">
            <a:pPr>
              <a:defRPr sz="1350" b="0" i="0">
                <a:solidFill>
                  <a:srgbClr val="20203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02034"/>
                </a:solidFill>
                <a:latin typeface="Arial"/>
                <a:ea typeface="Arial"/>
                <a:cs typeface="Arial"/>
              </a:rPr>
              <a:t>직무 맞춤 구성</a:t>
            </a:r>
          </a:p>
          <a:p xmlns:a="http://schemas.openxmlformats.org/drawingml/2006/main">
            <a:pPr>
              <a:defRPr sz="1350" b="0" i="0">
                <a:solidFill>
                  <a:srgbClr val="20203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02034"/>
                </a:solidFill>
                <a:latin typeface="Arial"/>
                <a:ea typeface="Arial"/>
                <a:cs typeface="Arial"/>
              </a:rPr>
              <a:t>경력기술서 정리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CD8469-E5CB-48FA-9F57-57774E44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24765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02A6C1-FEAC-4A4A-85D3-9F53839F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67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6043E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6043E7"/>
                </a:solidFill>
                <a:latin typeface="Arial"/>
                <a:ea typeface="Arial"/>
                <a:cs typeface="Arial"/>
              </a:rPr>
              <a:t>번역·영상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818716-BDDD-4339-98F3-19845F5A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90875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20203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02034"/>
                </a:solidFill>
                <a:latin typeface="Arial"/>
                <a:ea typeface="Arial"/>
                <a:cs typeface="Arial"/>
              </a:rPr>
              <a:t>외국어 번역</a:t>
            </a:r>
          </a:p>
          <a:p xmlns:a="http://schemas.openxmlformats.org/drawingml/2006/main">
            <a:pPr>
              <a:defRPr sz="1350" b="0" i="0">
                <a:solidFill>
                  <a:srgbClr val="20203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02034"/>
                </a:solidFill>
                <a:latin typeface="Arial"/>
                <a:ea typeface="Arial"/>
                <a:cs typeface="Arial"/>
              </a:rPr>
              <a:t>SRT·VTT 자막</a:t>
            </a:r>
          </a:p>
          <a:p xmlns:a="http://schemas.openxmlformats.org/drawingml/2006/main">
            <a:pPr>
              <a:defRPr sz="1350" b="0" i="0">
                <a:solidFill>
                  <a:srgbClr val="20203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02034"/>
                </a:solidFill>
                <a:latin typeface="Arial"/>
                <a:ea typeface="Arial"/>
                <a:cs typeface="Arial"/>
              </a:rPr>
              <a:t>영상 자막 삽입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E7047A-61B9-45E6-96E9-429A0F35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81250"/>
            <a:ext cx="24765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F36892-7121-46E7-BB6E-428E8C0C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67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6043E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6043E7"/>
                </a:solidFill>
                <a:latin typeface="Arial"/>
                <a:ea typeface="Arial"/>
                <a:cs typeface="Arial"/>
              </a:rPr>
              <a:t>업무 자동화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B0F8A9-1C6D-4E66-99AD-BE506E2B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90875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20203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02034"/>
                </a:solidFill>
                <a:latin typeface="Arial"/>
                <a:ea typeface="Arial"/>
                <a:cs typeface="Arial"/>
              </a:rPr>
              <a:t>Python·Excel</a:t>
            </a:r>
          </a:p>
          <a:p xmlns:a="http://schemas.openxmlformats.org/drawingml/2006/main">
            <a:pPr>
              <a:defRPr sz="1350" b="0" i="0">
                <a:solidFill>
                  <a:srgbClr val="20203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02034"/>
                </a:solidFill>
                <a:latin typeface="Arial"/>
                <a:ea typeface="Arial"/>
                <a:cs typeface="Arial"/>
              </a:rPr>
              <a:t>웹 크롤링</a:t>
            </a:r>
          </a:p>
          <a:p xmlns:a="http://schemas.openxmlformats.org/drawingml/2006/main">
            <a:pPr>
              <a:defRPr sz="1350" b="0" i="0">
                <a:solidFill>
                  <a:srgbClr val="20203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02034"/>
                </a:solidFill>
                <a:latin typeface="Arial"/>
                <a:ea typeface="Arial"/>
                <a:cs typeface="Arial"/>
              </a:rPr>
              <a:t>실행 파일 준비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99F646-B879-4A1F-8B79-156A66D1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68678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86780"/>
                </a:solidFill>
                <a:latin typeface="Arial"/>
                <a:ea typeface="Arial"/>
                <a:cs typeface="Arial"/>
              </a:rPr>
              <a:t>20개 판매 항목은 카탈로그와 상세페이지에서 같은 이름·범위·시작가로 표시</a:t>
            </a:r>
          </a:p>
        </p:txBody>
      </p:sp>
    </p:spTree>
    <p:extLst>
      <p:ext uri="{BB962C8B-B14F-4D97-AF65-F5344CB8AC3E}">
        <p14:creationId xmlns:p14="http://schemas.microsoft.com/office/powerpoint/2010/main" val="14108418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6D1C55-3908-4993-A505-73517B46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043E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043E7"/>
                </a:solidFill>
                <a:latin typeface="Arial"/>
                <a:ea typeface="Arial"/>
                <a:cs typeface="Arial"/>
              </a:rPr>
              <a:t>메로나 문서사무소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01E08C-860F-415E-BDD9-7C1A26C9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00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867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86780"/>
                </a:solidFill>
                <a:latin typeface="Arial"/>
                <a:ea typeface="Arial"/>
                <a:cs typeface="Arial"/>
              </a:rPr>
              <a:t>03  고객 여정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FABE06-0541-4EB0-95EF-B81B05FD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6F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C6A630-A5F2-4EEE-829B-E2E29531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86780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86780"/>
                </a:solidFill>
                <a:latin typeface="Arial"/>
                <a:ea typeface="Arial"/>
                <a:cs typeface="Arial"/>
              </a:rPr>
              <a:t>문서 · 번역 · 영상 자막 ·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8900EE-1061-4F8C-BF9C-7591E5A0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525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202034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202034"/>
                </a:solidFill>
                <a:latin typeface="Arial"/>
                <a:ea typeface="Arial"/>
                <a:cs typeface="Arial"/>
              </a:rPr>
              <a:t>상담에서 전달까지 같은 기준으로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18A171-F9BF-4C52-8549-51BC3B0F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8678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86780"/>
                </a:solidFill>
                <a:latin typeface="Arial"/>
                <a:ea typeface="Arial"/>
                <a:cs typeface="Arial"/>
              </a:rPr>
              <a:t>고객이 기다리는 이유를 설명하고 다음 행동을 한 번에 안내합니다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994ECA-ED39-42B4-A26A-0C4E958F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62200"/>
            <a:ext cx="23622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01848F-FEF6-44B3-9875-64F4E317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6043E7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6043E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0ECFD8-6426-4F4E-BC25-F04C6F8F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0203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02034"/>
                </a:solidFill>
                <a:latin typeface="Arial"/>
                <a:ea typeface="Arial"/>
                <a:cs typeface="Arial"/>
              </a:rPr>
              <a:t>상담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688EB5-932B-4A66-8B98-BEAB1AB1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1857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8678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86780"/>
                </a:solidFill>
                <a:latin typeface="Arial"/>
                <a:ea typeface="Arial"/>
                <a:cs typeface="Arial"/>
              </a:rPr>
              <a:t>용도·분량·마감·자료를 자연어로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EB0B1E-8535-496E-9C22-6D7C1E8C2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62200"/>
            <a:ext cx="23622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937500-540B-40C9-A837-539514A8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098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6043E7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6043E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49091A-DCFA-4521-9143-07B64BBA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432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0203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02034"/>
                </a:solidFill>
                <a:latin typeface="Arial"/>
                <a:ea typeface="Arial"/>
                <a:cs typeface="Arial"/>
              </a:rPr>
              <a:t>견적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38A564-B8E1-409A-9A11-E7B0FF5F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619500"/>
            <a:ext cx="1857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8678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86780"/>
                </a:solidFill>
                <a:latin typeface="Arial"/>
                <a:ea typeface="Arial"/>
                <a:cs typeface="Arial"/>
              </a:rPr>
              <a:t>포함 범위와 추가 조건을 짧고 분명하게 안내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6ECF31-CA5C-4386-8AC5-86743031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62200"/>
            <a:ext cx="23622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6043E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5415CF-F48C-4915-82D1-A3544790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098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DFF7E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DFF7E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3E6AAE-3450-49F5-B7F3-28FA3AFD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432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제작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66BA82-5633-4BF3-80DC-EB006984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19500"/>
            <a:ext cx="1857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EEEAFE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EEEAFE"/>
                </a:solidFill>
                <a:latin typeface="Arial"/>
                <a:ea typeface="Arial"/>
                <a:cs typeface="Arial"/>
              </a:rPr>
              <a:t>1차 파일을 만들고 실제 형식으로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E2413D-49A7-4BAF-B2B3-BA230BEB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62200"/>
            <a:ext cx="23622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1AFDAB-09E9-4EB8-A7AB-92EC65A5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098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6043E7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6043E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F830EE-B872-43DE-81F1-8066A1ED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432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0203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02034"/>
                </a:solidFill>
                <a:latin typeface="Arial"/>
                <a:ea typeface="Arial"/>
                <a:cs typeface="Arial"/>
              </a:rPr>
              <a:t>전달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CD6A5B-F517-4C6B-956E-70C5AD74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19500"/>
            <a:ext cx="1857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8678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86780"/>
                </a:solidFill>
                <a:latin typeface="Arial"/>
                <a:ea typeface="Arial"/>
                <a:cs typeface="Arial"/>
              </a:rPr>
              <a:t>수정 반영 후 이름 규칙에 맞춰 최종본 전달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C7C2F1-D94A-4E65-A4BA-C0FEEB6D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202034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02034"/>
                </a:solidFill>
                <a:latin typeface="Arial"/>
                <a:ea typeface="Arial"/>
                <a:cs typeface="Arial"/>
              </a:rPr>
              <a:t>기본 수정 1회는 범위에 포함하고, 분량·자료조사·추가 형식이 늘어날 때만 동의 후 추가금을 안내</a:t>
            </a:r>
          </a:p>
        </p:txBody>
      </p:sp>
    </p:spTree>
    <p:extLst>
      <p:ext uri="{BB962C8B-B14F-4D97-AF65-F5344CB8AC3E}">
        <p14:creationId xmlns:p14="http://schemas.microsoft.com/office/powerpoint/2010/main" val="14848979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AE27BB-0F1A-400A-AC77-019E1C4A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043E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043E7"/>
                </a:solidFill>
                <a:latin typeface="Arial"/>
                <a:ea typeface="Arial"/>
                <a:cs typeface="Arial"/>
              </a:rPr>
              <a:t>메로나 문서사무소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97DCED-6B3C-4FAA-84AC-DB0101EB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00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867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86780"/>
                </a:solidFill>
                <a:latin typeface="Arial"/>
                <a:ea typeface="Arial"/>
                <a:cs typeface="Arial"/>
              </a:rPr>
              <a:t>04  품질 운영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B21A76-5ED6-4ACC-BF00-1DC4F929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6F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575908-797C-4734-B42D-17B11BB4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86780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86780"/>
                </a:solidFill>
                <a:latin typeface="Arial"/>
                <a:ea typeface="Arial"/>
                <a:cs typeface="Arial"/>
              </a:rPr>
              <a:t>문서 · 번역 · 영상 자막 ·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05DD11-6AA8-4A67-B813-A5F96105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525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202034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202034"/>
                </a:solidFill>
                <a:latin typeface="Arial"/>
                <a:ea typeface="Arial"/>
                <a:cs typeface="Arial"/>
              </a:rPr>
              <a:t>검수는 의견이 아니라 새 파일을 만드는 과정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BD6F89-E05C-463D-B929-5E20A29E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8678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86780"/>
                </a:solidFill>
                <a:latin typeface="Arial"/>
                <a:ea typeface="Arial"/>
                <a:cs typeface="Arial"/>
              </a:rPr>
              <a:t>결과물 자체를 과제로 보고, 각 회차의 점수와 근거를 기록합니다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B14B47-6A70-43B7-85E1-750871BD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28850"/>
            <a:ext cx="4476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20203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D15FCD-421E-4130-AA52-053DAEAB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361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595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DFF7E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DFF7EF"/>
                </a:solidFill>
                <a:latin typeface="Arial"/>
                <a:ea typeface="Arial"/>
                <a:cs typeface="Arial"/>
              </a:rPr>
              <a:t>기본 검수 10회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E408F8-4EF6-4FBE-A1CF-82899688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81350"/>
            <a:ext cx="342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요구사항</a:t>
            </a:r>
          </a:p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사실·근거</a:t>
            </a:r>
          </a:p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파일 형식</a:t>
            </a:r>
          </a:p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편집 디자인</a:t>
            </a:r>
          </a:p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안전·위조·표절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413D0B-97C6-43BB-BB33-822F745D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28850"/>
            <a:ext cx="59245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FF7E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AB6523-202E-4EC8-8F38-AC7C304E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288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6043E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6043E7"/>
                </a:solidFill>
                <a:latin typeface="Arial"/>
                <a:ea typeface="Arial"/>
                <a:cs typeface="Arial"/>
              </a:rPr>
              <a:t>Astra 최종 채점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C3F2FE-7D09-4220-A41A-6C1FFB59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860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202034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202034"/>
                </a:solidFill>
                <a:latin typeface="Arial"/>
                <a:ea typeface="Arial"/>
                <a:cs typeface="Arial"/>
              </a:rPr>
              <a:t>보수적으로 100점 만점 채점, 80점 미만은 실제 파일을 다시 제작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B32590-2C61-4DF5-907C-E2EAD62D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95650"/>
            <a:ext cx="59245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A82AEB-95BE-4BF6-A87F-E3E8149A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956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6043E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6043E7"/>
                </a:solidFill>
                <a:latin typeface="Arial"/>
                <a:ea typeface="Arial"/>
                <a:cs typeface="Arial"/>
              </a:rPr>
              <a:t>검수 기록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740864-2B52-4832-9B7D-9E13C54A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528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202034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202034"/>
                </a:solidFill>
                <a:latin typeface="Arial"/>
                <a:ea typeface="Arial"/>
                <a:cs typeface="Arial"/>
              </a:rPr>
              <a:t>입력·출력·총 토큰·추정 비용·응답 ID를 회차마다 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B83B27-0E88-41AE-9EE1-CE5A6AF9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62450"/>
            <a:ext cx="59245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0D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DF00A8-48E2-4284-B824-B89AE5EB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624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6043E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6043E7"/>
                </a:solidFill>
                <a:latin typeface="Arial"/>
                <a:ea typeface="Arial"/>
                <a:cs typeface="Arial"/>
              </a:rPr>
              <a:t>납품 게이트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FC103F-1CDB-4ED5-8B3E-A200FC4D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196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202034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202034"/>
                </a:solidFill>
                <a:latin typeface="Arial"/>
                <a:ea typeface="Arial"/>
                <a:cs typeface="Arial"/>
              </a:rPr>
              <a:t>요청한 DOCX·XLSX·PY·EXE·SRT 등의 형식을 실제로 열고 확인</a:t>
            </a:r>
          </a:p>
        </p:txBody>
      </p:sp>
    </p:spTree>
    <p:extLst>
      <p:ext uri="{BB962C8B-B14F-4D97-AF65-F5344CB8AC3E}">
        <p14:creationId xmlns:p14="http://schemas.microsoft.com/office/powerpoint/2010/main" val="6230239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32B432-6862-4CEC-9E33-A3425171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043E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043E7"/>
                </a:solidFill>
                <a:latin typeface="Arial"/>
                <a:ea typeface="Arial"/>
                <a:cs typeface="Arial"/>
              </a:rPr>
              <a:t>메로나 문서사무소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F78199-9B26-463E-905C-441A29F4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00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867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86780"/>
                </a:solidFill>
                <a:latin typeface="Arial"/>
                <a:ea typeface="Arial"/>
                <a:cs typeface="Arial"/>
              </a:rPr>
              <a:t>05  가격 운영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EBF13B-6BD7-4451-B443-8A0B411F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6F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5D09A1-40BD-426A-916D-ABFFFBBC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86780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86780"/>
                </a:solidFill>
                <a:latin typeface="Arial"/>
                <a:ea typeface="Arial"/>
                <a:cs typeface="Arial"/>
              </a:rPr>
              <a:t>문서 · 번역 · 영상 자막 ·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78F57F-2618-4E05-9B24-0C75C1E3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525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202034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202034"/>
                </a:solidFill>
                <a:latin typeface="Arial"/>
                <a:ea typeface="Arial"/>
                <a:cs typeface="Arial"/>
              </a:rPr>
              <a:t>가격은 짧게, 범위는 먼저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8D69BF-D7A3-42A1-A6E9-CD70C578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8678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86780"/>
                </a:solidFill>
                <a:latin typeface="Arial"/>
                <a:ea typeface="Arial"/>
                <a:cs typeface="Arial"/>
              </a:rPr>
              <a:t>최종 금액은 자료·분량·마감·파일 형식을 확인한 뒤 확정합니다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D7C035-7139-4646-9AF5-636BCF8C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3333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95E6C7-E69B-4A46-8EB6-1D583E7A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670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6043E7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043E7"/>
                </a:solidFill>
                <a:latin typeface="Arial"/>
                <a:ea typeface="Arial"/>
                <a:cs typeface="Arial"/>
              </a:rPr>
              <a:t>오픈 기념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53BC12-EA15-46AE-97C5-6E5DA943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02034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02034"/>
                </a:solidFill>
                <a:latin typeface="Arial"/>
                <a:ea typeface="Arial"/>
                <a:cs typeface="Arial"/>
              </a:rPr>
              <a:t>기준가에서 30% 할인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2A4913-12A1-4C79-BAE8-2E78F824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62375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8678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86780"/>
                </a:solidFill>
                <a:latin typeface="Arial"/>
                <a:ea typeface="Arial"/>
                <a:cs typeface="Arial"/>
              </a:rPr>
              <a:t>기본 상품의 시작가를 명확히 표시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F0ABE2-3C4F-4EE6-BAC2-D2FD101D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81250"/>
            <a:ext cx="3333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6043E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3BA37A-6157-4EE6-9C90-DF02A821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670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DFF7E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DFF7EF"/>
                </a:solidFill>
                <a:latin typeface="Arial"/>
                <a:ea typeface="Arial"/>
                <a:cs typeface="Arial"/>
              </a:rPr>
              <a:t>샘플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3B27F9-817D-417D-AF75-206C4182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242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판매가의 25%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EDED2C-033F-4E5B-87D3-5C9ED6BE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62375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EEEAFE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EEEAFE"/>
                </a:solidFill>
                <a:latin typeface="Arial"/>
                <a:ea typeface="Arial"/>
                <a:cs typeface="Arial"/>
              </a:rPr>
              <a:t>본 작업으로 이어가면 샘플 기본금액 차감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A5D303-7156-41F5-A8DE-1DDE3948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81250"/>
            <a:ext cx="3333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8F09EF-BA23-4D66-A45F-375C0F07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670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6043E7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043E7"/>
                </a:solidFill>
                <a:latin typeface="Arial"/>
                <a:ea typeface="Arial"/>
                <a:cs typeface="Arial"/>
              </a:rPr>
              <a:t>추가 작업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116AB9-26E1-4AE4-9B8C-E0797F53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242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970"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02034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02034"/>
                </a:solidFill>
                <a:latin typeface="Arial"/>
                <a:ea typeface="Arial"/>
                <a:cs typeface="Arial"/>
              </a:rPr>
              <a:t>동의 전에는 진행하지 않음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0D7E18-A106-4AD5-A77C-E24C57FA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62375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8678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86780"/>
                </a:solidFill>
                <a:latin typeface="Arial"/>
                <a:ea typeface="Arial"/>
                <a:cs typeface="Arial"/>
              </a:rPr>
              <a:t>범위가 늘면 사유와 금액을 한 번 안내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B3BDBC-CFBD-45AA-A82C-F5EA30B4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9587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202034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02034"/>
                </a:solidFill>
                <a:latin typeface="Arial"/>
                <a:ea typeface="Arial"/>
                <a:cs typeface="Arial"/>
              </a:rPr>
              <a:t>숨고페이는 거래별 결제 상태를 확인한 뒤 작업·전달·거래 확정 순서로 처리</a:t>
            </a:r>
          </a:p>
        </p:txBody>
      </p:sp>
    </p:spTree>
    <p:extLst>
      <p:ext uri="{BB962C8B-B14F-4D97-AF65-F5344CB8AC3E}">
        <p14:creationId xmlns:p14="http://schemas.microsoft.com/office/powerpoint/2010/main" val="17667287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81EBB7-8CFA-43E8-AAC0-208455A6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043E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043E7"/>
                </a:solidFill>
                <a:latin typeface="Arial"/>
                <a:ea typeface="Arial"/>
                <a:cs typeface="Arial"/>
              </a:rPr>
              <a:t>메로나 문서사무소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6896AA-C44D-4BFE-BB66-E2D0773B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00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867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86780"/>
                </a:solidFill>
                <a:latin typeface="Arial"/>
                <a:ea typeface="Arial"/>
                <a:cs typeface="Arial"/>
              </a:rPr>
              <a:t>06  채널 운영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5AE24F-1ADE-4D30-BCE2-4F121629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6F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F461CC-D8D6-4F5F-A0BC-714FEB28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86780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86780"/>
                </a:solidFill>
                <a:latin typeface="Arial"/>
                <a:ea typeface="Arial"/>
                <a:cs typeface="Arial"/>
              </a:rPr>
              <a:t>문서 · 번역 · 영상 자막 ·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976612-155C-4463-BC62-9E5EC854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525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202034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202034"/>
                </a:solidFill>
                <a:latin typeface="Arial"/>
                <a:ea typeface="Arial"/>
                <a:cs typeface="Arial"/>
              </a:rPr>
              <a:t>상세페이지와 상담을 한 목소리로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8FF5F2-7B9F-455E-B4FB-E268B091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8678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86780"/>
                </a:solidFill>
                <a:latin typeface="Arial"/>
                <a:ea typeface="Arial"/>
                <a:cs typeface="Arial"/>
              </a:rPr>
              <a:t>고객이 보는 카탈로그·상세페이지·채팅 안내를 한 기준으로 유지합니다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667437-5624-40AE-8BEE-80452C10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4857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470593-5D90-428E-BE74-66B29FA6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043E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043E7"/>
                </a:solidFill>
                <a:latin typeface="Arial"/>
                <a:ea typeface="Arial"/>
                <a:cs typeface="Arial"/>
              </a:rPr>
              <a:t>고객 접점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34988F-A8E0-4D0C-8B98-6390DBDC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20203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02034"/>
                </a:solidFill>
                <a:latin typeface="Arial"/>
                <a:ea typeface="Arial"/>
                <a:cs typeface="Arial"/>
              </a:rPr>
              <a:t>•  서비스 20종과 시작가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2515EB-3AC6-4B7F-B592-074747BF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623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20203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02034"/>
                </a:solidFill>
                <a:latin typeface="Arial"/>
                <a:ea typeface="Arial"/>
                <a:cs typeface="Arial"/>
              </a:rPr>
              <a:t>•  샘플 25%와 연결 방식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F46FA0-DC0E-41AC-9295-A2D2221DE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814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20203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02034"/>
                </a:solidFill>
                <a:latin typeface="Arial"/>
                <a:ea typeface="Arial"/>
                <a:cs typeface="Arial"/>
              </a:rPr>
              <a:t>•  결과물 형식과 수정 범위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B0D984-FC0E-45F9-BC2B-E23BC5C63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20203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02034"/>
                </a:solidFill>
                <a:latin typeface="Arial"/>
                <a:ea typeface="Arial"/>
                <a:cs typeface="Arial"/>
              </a:rPr>
              <a:t>•  상담부터 리뷰 요청까지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5C53CA-FB8B-4F87-999F-758D3F56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55054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DFF7E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5976C9-B797-4FE1-8817-D1669022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0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043E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043E7"/>
                </a:solidFill>
                <a:latin typeface="Arial"/>
                <a:ea typeface="Arial"/>
                <a:cs typeface="Arial"/>
              </a:rPr>
              <a:t>운영 지표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A1590E-D0F0-40A7-AF87-82A85CF8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432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20203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02034"/>
                </a:solidFill>
                <a:latin typeface="Arial"/>
                <a:ea typeface="Arial"/>
                <a:cs typeface="Arial"/>
              </a:rPr>
              <a:t>•  첫 응답까지 걸린 시간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BE1FE4-FE92-489E-BD34-9D15F517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623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20203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02034"/>
                </a:solidFill>
                <a:latin typeface="Arial"/>
                <a:ea typeface="Arial"/>
                <a:cs typeface="Arial"/>
              </a:rPr>
              <a:t>•  견적 확인 후 상담 전환율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D77328-071F-48A6-9171-E8892FF1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814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20203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02034"/>
                </a:solidFill>
                <a:latin typeface="Arial"/>
                <a:ea typeface="Arial"/>
                <a:cs typeface="Arial"/>
              </a:rPr>
              <a:t>•  파일 형식 오류와 재전송률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972D98-72C6-49CE-863F-52AA7971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005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20203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02034"/>
                </a:solidFill>
                <a:latin typeface="Arial"/>
                <a:ea typeface="Arial"/>
                <a:cs typeface="Arial"/>
              </a:rPr>
              <a:t>•  거래 확정·리뷰 요청 완료율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DAA1FD-DB7C-4FE4-9582-4F07A537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202034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02034"/>
                </a:solidFill>
                <a:latin typeface="Arial"/>
                <a:ea typeface="Arial"/>
                <a:cs typeface="Arial"/>
              </a:rPr>
              <a:t>다음 단계: 상세페이지 공개 → 채팅 흐름 1주 운영 → 지표 기반 문구·가격 보정</a:t>
            </a:r>
          </a:p>
        </p:txBody>
      </p:sp>
    </p:spTree>
    <p:extLst>
      <p:ext uri="{BB962C8B-B14F-4D97-AF65-F5344CB8AC3E}">
        <p14:creationId xmlns:p14="http://schemas.microsoft.com/office/powerpoint/2010/main" val="5891947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2026-09-17T16:04:24.5920000Z</dcterms:created>
  <dcterms:modified xsi:type="dcterms:W3CDTF">2026-09-17T16:04:24.5930000Z</dcterms:modified>
</coreProperties>
</file>