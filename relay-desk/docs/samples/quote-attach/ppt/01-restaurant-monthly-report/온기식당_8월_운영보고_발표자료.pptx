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Pretendard" pitchFamily="2" charset="-127"/>
      <p:regular r:id="rIdSwanFont1"/>
      <p:bold r:id="rIdSwan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SwanFont1" Type="http://schemas.openxmlformats.org/officeDocument/2006/relationships/font" Target="fonts/font1.fntdata"/><Relationship Id="rIdSwanFont2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9DB8AD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FFFFFF"/>
                    </a:solidFill>
                    <a:latin typeface="Pretendard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첫째 주</c:v>
                  </c:pt>
                  <c:pt idx="1">
                    <c:v>둘째 주</c:v>
                  </c:pt>
                  <c:pt idx="2">
                    <c:v>셋째 주</c:v>
                  </c:pt>
                  <c:pt idx="3">
                    <c:v>넷째 주</c:v>
                  </c:pt>
                  <c:pt idx="4">
                    <c:v>월말 사흘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895</c:v>
                </c:pt>
                <c:pt idx="1">
                  <c:v>942</c:v>
                </c:pt>
                <c:pt idx="2">
                  <c:v>0</c:v>
                </c:pt>
                <c:pt idx="3">
                  <c:v>916</c:v>
                </c:pt>
                <c:pt idx="4">
                  <c:v>251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장마 주간</c:v>
                </c:pt>
              </c:strCache>
            </c:strRef>
          </c:tx>
          <c:spPr>
            <a:solidFill>
              <a:srgbClr val="2E6B57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FFFFFF"/>
                    </a:solidFill>
                    <a:latin typeface="Pretendard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첫째 주</c:v>
                  </c:pt>
                  <c:pt idx="1">
                    <c:v>둘째 주</c:v>
                  </c:pt>
                  <c:pt idx="2">
                    <c:v>셋째 주</c:v>
                  </c:pt>
                  <c:pt idx="3">
                    <c:v>넷째 주</c:v>
                  </c:pt>
                  <c:pt idx="4">
                    <c:v>월말 사흘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838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1" i="0" strike="noStrike" sz="1600" u="none">
                  <a:solidFill>
                    <a:srgbClr val="FFFFFF"/>
                  </a:solidFill>
                  <a:latin typeface="Pretendard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44444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상호와 숫자는 모두 가상입니다(swan 샘플).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6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23760" y="82296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3F7C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온기식당(가상) · 월간 운영 보고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 운영 보고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37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8월 1일~31일 · 작성 대표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C7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7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8월, 한눈에 보기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지난해 8월과 비교한 이번 달의 핵심 숫자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423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6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 매출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71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3,842만 원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0690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지난해 8월보다 7.4% 늘었습니다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20574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423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6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 수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971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3,125명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40690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 평균 약 1만 2,300원 결제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20574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423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6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비용을 뺀 금액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971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995만 원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40690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매출의 26%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40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비용을 뺀 금액은 세금과 카드·배달 앱 수수료를 빼기 전 금액입니다.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매출은 홀이 63%, 배달이 30%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구분별 매출과 비중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1828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비중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2,415만 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63%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1,163만 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30%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264만 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7%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3,842만 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100%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6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시간대별 매출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0" y="2560320"/>
            <a:ext cx="2313432" cy="640080"/>
          </a:xfrm>
          <a:prstGeom prst="rect">
            <a:avLst/>
          </a:prstGeom>
          <a:solidFill>
            <a:srgbClr val="2E6B57"/>
          </a:solidFill>
          <a:ln w="12700">
            <a:solidFill>
              <a:srgbClr val="2E6B5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28632" y="2560320"/>
            <a:ext cx="1892808" cy="640080"/>
          </a:xfrm>
          <a:prstGeom prst="rect">
            <a:avLst/>
          </a:prstGeom>
          <a:solidFill>
            <a:srgbClr val="9DB8AD"/>
          </a:solidFill>
          <a:ln w="12700">
            <a:solidFill>
              <a:srgbClr val="9DB8A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52360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점심 55%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765792" y="25603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45%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점심 2,130만 원 · 저녁 1,712만 원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0" y="406908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42245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배달은 앱 수수료를 빼면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남는 몫이 홀보다 작습니다.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셋째 주, 장마로 매출이 가장 낮았습니다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주별 매출(단위: 만 원)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10911535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첫째 주 1~7일 · 둘째 주 8~14일 · 셋째 주 15~21일 · 넷째 주 22~28일 · 월말 사흘 29~31일(사흘치라 다른 주와 바로 비교하지 않습니다)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비용을 빼고 매출의 26%가 남았습니다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3,842만 원 기준, 항목별 비중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91840" y="1993392"/>
            <a:ext cx="6400800" cy="27432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1993392"/>
            <a:ext cx="2304288" cy="274320"/>
          </a:xfrm>
          <a:prstGeom prst="rect">
            <a:avLst/>
          </a:prstGeom>
          <a:solidFill>
            <a:srgbClr val="9DB8AD"/>
          </a:solidFill>
          <a:ln w="12700">
            <a:solidFill>
              <a:srgbClr val="9DB8A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875520" y="1920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36%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65276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1,383만 원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237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인건비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2596896"/>
            <a:ext cx="6400800" cy="27432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596896"/>
            <a:ext cx="1600200" cy="274320"/>
          </a:xfrm>
          <a:prstGeom prst="rect">
            <a:avLst/>
          </a:prstGeom>
          <a:solidFill>
            <a:srgbClr val="9DB8AD"/>
          </a:solidFill>
          <a:ln w="12700">
            <a:solidFill>
              <a:srgbClr val="9DB8A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0" y="25237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25%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652760" y="252374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960만 원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272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91840" y="3200400"/>
            <a:ext cx="6400800" cy="27432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200400"/>
            <a:ext cx="448056" cy="274320"/>
          </a:xfrm>
          <a:prstGeom prst="rect">
            <a:avLst/>
          </a:prstGeom>
          <a:solidFill>
            <a:srgbClr val="9DB8AD"/>
          </a:solidFill>
          <a:ln w="12700">
            <a:solidFill>
              <a:srgbClr val="9DB8A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0" y="31272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7%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652760" y="31272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280만 원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7307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공과금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91840" y="3803904"/>
            <a:ext cx="6400800" cy="27432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3803904"/>
            <a:ext cx="192024" cy="274320"/>
          </a:xfrm>
          <a:prstGeom prst="rect">
            <a:avLst/>
          </a:prstGeom>
          <a:solidFill>
            <a:srgbClr val="9DB8AD"/>
          </a:solidFill>
          <a:ln w="12700">
            <a:solidFill>
              <a:srgbClr val="9DB8A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75520" y="373075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3%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652760" y="37307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115만 원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3342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기타(에어컨 수리 포함)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91840" y="4407408"/>
            <a:ext cx="6400800" cy="27432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4407408"/>
            <a:ext cx="192024" cy="274320"/>
          </a:xfrm>
          <a:prstGeom prst="rect">
            <a:avLst/>
          </a:prstGeom>
          <a:solidFill>
            <a:srgbClr val="9DB8AD"/>
          </a:solidFill>
          <a:ln w="12700">
            <a:solidFill>
              <a:srgbClr val="9DB8A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75520" y="433425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3%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652760" y="43342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109만 원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" y="4828032"/>
            <a:ext cx="10911535" cy="0"/>
          </a:xfrm>
          <a:prstGeom prst="line">
            <a:avLst/>
          </a:prstGeom>
          <a:noFill/>
          <a:ln w="12700">
            <a:solidFill>
              <a:srgbClr val="C9D6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4937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금액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91840" y="5010912"/>
            <a:ext cx="6400800" cy="27432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5010912"/>
            <a:ext cx="1664208" cy="274320"/>
          </a:xfrm>
          <a:prstGeom prst="rect">
            <a:avLst/>
          </a:prstGeom>
          <a:solidFill>
            <a:srgbClr val="2E6B57"/>
          </a:solidFill>
          <a:ln w="12700">
            <a:solidFill>
              <a:srgbClr val="2E6B5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75520" y="4937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6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26%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0652760" y="4937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995만 원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715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세금과 카드·배달 앱 수수료를 빼기 전 금액입니다.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많이 팔린 메뉴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 판매량 기준 상위 3개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31720"/>
            <a:ext cx="731520" cy="731520"/>
          </a:xfrm>
          <a:prstGeom prst="ellipse">
            <a:avLst/>
          </a:prstGeom>
          <a:solidFill>
            <a:srgbClr val="2E6B57"/>
          </a:solidFill>
          <a:ln w="12700">
            <a:solidFill>
              <a:srgbClr val="2E6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된장찌개 정식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8862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6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1,020그릇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572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점심 손님이 가장 많이 찾았습니다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331720"/>
            <a:ext cx="731520" cy="731520"/>
          </a:xfrm>
          <a:prstGeom prst="ellipse">
            <a:avLst/>
          </a:prstGeom>
          <a:solidFill>
            <a:srgbClr val="9DB8AD"/>
          </a:solidFill>
          <a:ln w="12700">
            <a:solidFill>
              <a:srgbClr val="9DB8A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제육볶음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8862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6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860그릇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572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저녁에 특히 많이 나갔습니다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F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2331720"/>
            <a:ext cx="731520" cy="731520"/>
          </a:xfrm>
          <a:prstGeom prst="ellipse">
            <a:avLst/>
          </a:prstGeom>
          <a:solidFill>
            <a:srgbClr val="9DB8AD"/>
          </a:solidFill>
          <a:ln w="12700">
            <a:solidFill>
              <a:srgbClr val="9DB8A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김치찌개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8862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6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740그릇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4572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점심·저녁 고르게 나갔습니다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달에 있었던 일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매출과 손님 응대에 영향을 준 일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868680" cy="868680"/>
          </a:xfrm>
          <a:prstGeom prst="ellipse">
            <a:avLst/>
          </a:prstGeom>
          <a:solidFill>
            <a:srgbClr val="2E6B57"/>
          </a:solidFill>
          <a:ln w="12700">
            <a:solidFill>
              <a:srgbClr val="2E6B5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167128"/>
            <a:ext cx="466344" cy="466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9842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셋째 주 장마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4231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손님이 줄어 주간 매출이 838만 원으로 가장 낮았습니다.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868680" cy="868680"/>
          </a:xfrm>
          <a:prstGeom prst="ellipse">
            <a:avLst/>
          </a:prstGeom>
          <a:solidFill>
            <a:srgbClr val="2E6B57"/>
          </a:solidFill>
          <a:ln w="12700">
            <a:solidFill>
              <a:srgbClr val="2E6B5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401568"/>
            <a:ext cx="466344" cy="4663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28800" y="32186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 1명 여름휴가(5일)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828800" y="3657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점심 대기가 길어져 불편 의견이 2건 있었습니다.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4434840"/>
            <a:ext cx="868680" cy="868680"/>
          </a:xfrm>
          <a:prstGeom prst="ellipse">
            <a:avLst/>
          </a:prstGeom>
          <a:solidFill>
            <a:srgbClr val="2E6B57"/>
          </a:solidFill>
          <a:ln w="12700">
            <a:solidFill>
              <a:srgbClr val="2E6B5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636008"/>
            <a:ext cx="466344" cy="4663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828800" y="44531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에어컨 수리 1회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828800" y="4892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수리비는 기타 비용(109만 원)에 포함했습니다.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6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9월에 할 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24574A"/>
          </a:solidFill>
          <a:ln w="12700">
            <a:solidFill>
              <a:srgbClr val="2457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874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E3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856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점심 세트 가격 유지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3774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점심 매출이 꾸준합니다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8346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것 · 9월 점심 손님 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24574A"/>
          </a:solidFill>
          <a:ln w="12700">
            <a:solidFill>
              <a:srgbClr val="2457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874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E3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1856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 용기 교체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3774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국물이 새는 문제가 있었습니다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8346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것 · 교체 뒤 관련 불만 건수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24574A"/>
          </a:solidFill>
          <a:ln w="12700">
            <a:solidFill>
              <a:srgbClr val="2457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0233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E3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0050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신메뉴 1개 시험(보쌈)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5262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매출을 보강합니다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9834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것 · 2주간 판매량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37490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24574A"/>
          </a:solidFill>
          <a:ln w="12700">
            <a:solidFill>
              <a:srgbClr val="2457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40233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E3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40050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추석 연휴 영업일 미리 공지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5262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헛걸음하는 손님을 줄입니다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9834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것 · 공지한 날짜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C7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· 직접 만든 예시(가상 자료)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7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온기식당(가상) 8월 운영 보고</dc:title>
  <dc:subject>PptxGenJS Presentation</dc:subject>
  <dc:creator>swan (sample)</dc:creator>
  <cp:lastModifiedBy>swan (sample)</cp:lastModifiedBy>
  <cp:revision>1</cp:revision>
  <dcterms:created xsi:type="dcterms:W3CDTF">2026-09-24T08:27:53Z</dcterms:created>
  <dcterms:modified xsi:type="dcterms:W3CDTF">2026-09-24T08:27:53Z</dcterms:modified>
</cp:coreProperties>
</file>