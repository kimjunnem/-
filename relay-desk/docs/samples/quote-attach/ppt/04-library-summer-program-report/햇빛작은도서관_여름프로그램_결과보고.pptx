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embeddedFontLst>
    <p:embeddedFont>
      <p:font typeface="Pretendard" pitchFamily="2" charset="-127"/>
      <p:regular r:id="rIdSwanFont1"/>
      <p:bold r:id="rIdSwan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SwanFont1" Type="http://schemas.openxmlformats.org/officeDocument/2006/relationships/font" Target="fonts/font1.fntdata"/><Relationship Id="rIdSwanFont2" Type="http://schemas.openxmlformats.org/officeDocument/2006/relationships/font" Target="fonts/font2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정원</c:v>
                </c:pt>
              </c:strCache>
            </c:strRef>
          </c:tx>
          <c:spPr>
            <a:solidFill>
              <a:srgbClr val="D9AFB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333333"/>
                    </a:solidFill>
                    <a:latin typeface="Pretendard"/>
                    <a:ea typeface="Pretendar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그림책 읽기</c:v>
                  </c:pt>
                  <c:pt idx="1">
                    <c:v>요리 교실</c:v>
                  </c:pt>
                  <c:pt idx="2">
                    <c:v>과학 실험</c:v>
                  </c:pt>
                  <c:pt idx="3">
                    <c:v>영화의 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45</c:v>
                </c:pt>
                <c:pt idx="2">
                  <c:v>45</c:v>
                </c:pt>
                <c:pt idx="3">
                  <c:v>160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참가</c:v>
                </c:pt>
              </c:strCache>
            </c:strRef>
          </c:tx>
          <c:spPr>
            <a:solidFill>
              <a:srgbClr val="9B3D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333333"/>
                    </a:solidFill>
                    <a:latin typeface="Pretendard"/>
                    <a:ea typeface="Pretendar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그림책 읽기</c:v>
                  </c:pt>
                  <c:pt idx="1">
                    <c:v>요리 교실</c:v>
                  </c:pt>
                  <c:pt idx="2">
                    <c:v>과학 실험</c:v>
                  </c:pt>
                  <c:pt idx="3">
                    <c:v>영화의 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58</c:v>
                </c:pt>
                <c:pt idx="1">
                  <c:v>45</c:v>
                </c:pt>
                <c:pt idx="2">
                  <c:v>41</c:v>
                </c:pt>
                <c:pt idx="3">
                  <c:v>142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333333"/>
                  </a:solidFill>
                  <a:latin typeface="Pretendard"/>
                  <a:ea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-8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44444"/>
                </a:solidFill>
                <a:latin typeface="Pretendard"/>
                <a:ea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300">
              <a:solidFill>
                <a:srgbClr val="444444"/>
              </a:solidFill>
              <a:latin typeface="Pretendard"/>
              <a:ea typeface="Pretendard"/>
              <a:cs typeface="Pretendard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도서관 이름·숫자는 모두 가상입니다(swan 샘플).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B3D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1280160"/>
            <a:ext cx="3474720" cy="34747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417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FD3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햇빛작은도서관(가상) · 운영위원회 보고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96596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여름방학 프로그램</a:t>
            </a:r>
            <a:endParaRPr lang="en-US" sz="5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보고</a:t>
            </a:r>
            <a:endParaRPr lang="en-US" sz="5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148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FD3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2026년 7월 27일 ~ 8월 21일 운영 · 보고일 2026년 9월 10일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59AA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· 직접 만든 예시(가상 자료)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D59AA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한눈에 보기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4주 동안 프로그램 4개를 12회 운영했습니다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F6ECEF"/>
          </a:solidFill>
          <a:ln w="12700">
            <a:solidFill>
              <a:srgbClr val="F6EC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3774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B3D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운영한 프로그램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88036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4개 · 12회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97764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그림책 읽기, 요리 교실, 과학 실험, 영화의 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43400" y="201168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F6ECEF"/>
          </a:solidFill>
          <a:ln w="12700">
            <a:solidFill>
              <a:srgbClr val="F6EC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23774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B3D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참가한 인원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88036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286명</a:t>
            </a:r>
            <a:endParaRPr lang="en-US" sz="42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97764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정원 310명 중 92%가 참가(연인원)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46720" y="201168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F6ECEF"/>
          </a:solidFill>
          <a:ln w="12700">
            <a:solidFill>
              <a:srgbClr val="F6EC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66760" y="23774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B3D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보호자 만족도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88036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4.6점</a:t>
            </a:r>
            <a:endParaRPr lang="en-US" sz="42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397764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5점 만점 · 설문 응답 97명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349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예산 250만 원 중 249만 8천 원을 썼습니다.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· 직접 만든 예시(가상 자료)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요리 교실은 정원이 모두 찼습니다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프로그램별 정원과 참가 인원(연인원, 단위: 명)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37360"/>
          <a:ext cx="76809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732520" y="1828800"/>
            <a:ext cx="64008" cy="1097280"/>
          </a:xfrm>
          <a:prstGeom prst="rect">
            <a:avLst/>
          </a:prstGeom>
          <a:solidFill>
            <a:srgbClr val="9B3D57"/>
          </a:solidFill>
          <a:ln w="12700">
            <a:solidFill>
              <a:srgbClr val="9B3D5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961120" y="1847088"/>
            <a:ext cx="2544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B3D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요리 교실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961120" y="2240280"/>
            <a:ext cx="2544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45명 정원에 45명 모두 참가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732520" y="3200400"/>
            <a:ext cx="64008" cy="1097280"/>
          </a:xfrm>
          <a:prstGeom prst="rect">
            <a:avLst/>
          </a:prstGeom>
          <a:solidFill>
            <a:srgbClr val="D9AFBC"/>
          </a:solidFill>
          <a:ln w="12700">
            <a:solidFill>
              <a:srgbClr val="D9AFB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961120" y="3218688"/>
            <a:ext cx="2544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영화의 밤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961120" y="3611880"/>
            <a:ext cx="2544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가족 단위로 142명 참가 — 한 번에 가장 많이 모였습니다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732520" y="4572000"/>
            <a:ext cx="64008" cy="1097280"/>
          </a:xfrm>
          <a:prstGeom prst="rect">
            <a:avLst/>
          </a:prstGeom>
          <a:solidFill>
            <a:srgbClr val="D9AFBC"/>
          </a:solidFill>
          <a:ln w="12700">
            <a:solidFill>
              <a:srgbClr val="D9AFB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961120" y="4590288"/>
            <a:ext cx="2544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횟수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961120" y="4983480"/>
            <a:ext cx="2544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그림책 읽기 4회 · 요리 교실 3회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과학 실험 3회 · 영화의 밤 2회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· 직접 만든 예시(가상 자료)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예산은 거의 계획대로 썼습니다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예산 집행 내역(단위: 원)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75895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645920"/>
                <a:gridCol w="1645920"/>
                <a:gridCol w="164592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3D5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계획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3D5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실제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3D5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차이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3D5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강사비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1,200,000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1,200,000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6B6B6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9B3D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재료비(요리 · 과학)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650,000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9B3D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712,000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9B3D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+62,000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간식 · 음료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300,000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268,000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6B6B6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−32,000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영화 상영권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200,000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200,000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6B6B6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홍보물 인쇄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150,000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118,000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6B6B6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−32,000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합계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2,500,000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2,498,000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−2,000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641080" y="1783080"/>
            <a:ext cx="2910535" cy="1828800"/>
          </a:xfrm>
          <a:prstGeom prst="roundRect">
            <a:avLst>
              <a:gd name="adj" fmla="val 5000"/>
            </a:avLst>
          </a:prstGeom>
          <a:solidFill>
            <a:srgbClr val="9B3D57"/>
          </a:solidFill>
          <a:ln w="12700">
            <a:solidFill>
              <a:srgbClr val="9B3D5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869680" y="2011680"/>
            <a:ext cx="2544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재료비 62,000원 초과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869680" y="2468880"/>
            <a:ext cx="2544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FD3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요리 교실 재료값이 올라서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FD3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계획보다 더 들었습니다.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641080" y="3794760"/>
            <a:ext cx="2910535" cy="1828800"/>
          </a:xfrm>
          <a:prstGeom prst="roundRect">
            <a:avLst>
              <a:gd name="adj" fmla="val 5000"/>
            </a:avLst>
          </a:prstGeom>
          <a:solidFill>
            <a:srgbClr val="F6ECEF"/>
          </a:solidFill>
          <a:ln w="12700">
            <a:solidFill>
              <a:srgbClr val="F6EC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869680" y="4023360"/>
            <a:ext cx="2544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B3D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전체로는 2,000원 남음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869680" y="4480560"/>
            <a:ext cx="2544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간식과 인쇄비에서 아낀 돈으로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재료비 초과분을 메웠습니다.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· 직접 만든 예시(가상 자료)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보호자 만족도는 평균 4.6점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보호자 설문 97명 응답 · 5점 만점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11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프로그램 내용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931920" y="2103120"/>
            <a:ext cx="6309360" cy="29260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31920" y="2103120"/>
            <a:ext cx="5930798" cy="292608"/>
          </a:xfrm>
          <a:prstGeom prst="rect">
            <a:avLst/>
          </a:prstGeom>
          <a:solidFill>
            <a:srgbClr val="9B3D57"/>
          </a:solidFill>
          <a:ln w="12700">
            <a:solidFill>
              <a:srgbClr val="9B3D5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424160" y="2011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B3D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4.7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880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강사 설명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931920" y="2971800"/>
            <a:ext cx="6309360" cy="29260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2971800"/>
            <a:ext cx="5804611" cy="292608"/>
          </a:xfrm>
          <a:prstGeom prst="rect">
            <a:avLst/>
          </a:prstGeom>
          <a:solidFill>
            <a:srgbClr val="9B3D57"/>
          </a:solidFill>
          <a:ln w="12700">
            <a:solidFill>
              <a:srgbClr val="9B3D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424160" y="2880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B3D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4.6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749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 · 장소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931920" y="3840480"/>
            <a:ext cx="6309360" cy="29260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31920" y="3840480"/>
            <a:ext cx="5426050" cy="292608"/>
          </a:xfrm>
          <a:prstGeom prst="rect">
            <a:avLst/>
          </a:prstGeom>
          <a:solidFill>
            <a:srgbClr val="D9AFBC"/>
          </a:solidFill>
          <a:ln w="12700">
            <a:solidFill>
              <a:srgbClr val="D9AFB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424160" y="3749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617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다음에도 참여하고 싶다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931920" y="4709160"/>
            <a:ext cx="6309360" cy="29260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31920" y="4709160"/>
            <a:ext cx="6056986" cy="292608"/>
          </a:xfrm>
          <a:prstGeom prst="rect">
            <a:avLst/>
          </a:prstGeom>
          <a:solidFill>
            <a:srgbClr val="9B3D57"/>
          </a:solidFill>
          <a:ln w="12700">
            <a:solidFill>
              <a:srgbClr val="9B3D5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424160" y="4617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B3D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4.8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532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 · 장소 점수가 가장 낮았습니다. 서술 응답에서 과학 실험 시간이 짧다는 의견이 많았습니다.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· 직접 만든 예시(가상 자료)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보호자 의견 중에서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설문 서술 응답 일부를 그대로 옮겼습니다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29000" cy="2377440"/>
          </a:xfrm>
          <a:prstGeom prst="roundRect">
            <a:avLst>
              <a:gd name="adj" fmla="val 4615"/>
            </a:avLst>
          </a:prstGeom>
          <a:solidFill>
            <a:srgbClr val="F6ECEF"/>
          </a:solidFill>
          <a:ln w="12700">
            <a:solidFill>
              <a:srgbClr val="F6ECE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3774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24048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B3D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좋았던 점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310896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"아이가 집에서도 요리 교실 레시피를 따라 했어요."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343400" y="2011680"/>
            <a:ext cx="3429000" cy="2377440"/>
          </a:xfrm>
          <a:prstGeom prst="roundRect">
            <a:avLst>
              <a:gd name="adj" fmla="val 461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37744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212080" y="24048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아쉬운 점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4663440" y="310896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"영화의 밤에 돗자리가 모자라서 바닥에 앉았어요."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8046720" y="2011680"/>
            <a:ext cx="3429000" cy="2377440"/>
          </a:xfrm>
          <a:prstGeom prst="roundRect">
            <a:avLst>
              <a:gd name="adj" fmla="val 461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37744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915400" y="24048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아쉬운 점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8366760" y="310896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"과학 실험이 재미있었는데 시간이 너무 짧았어요."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· 직접 만든 예시(가상 자료)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겨울방학 때 바꿀 것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결과와 설문 의견을 반영했습니다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578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6D3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286000"/>
            <a:ext cx="822960" cy="822960"/>
          </a:xfrm>
          <a:prstGeom prst="ellipse">
            <a:avLst/>
          </a:prstGeom>
          <a:solidFill>
            <a:srgbClr val="9B3D57"/>
          </a:solidFill>
          <a:ln w="12700">
            <a:solidFill>
              <a:srgbClr val="9B3D5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2496312"/>
            <a:ext cx="402336" cy="4023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65960" y="22677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영화의 밤 돗자리 30개 더 준비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965960" y="276148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이유 · 돗자리가 모자랐다는 의견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72200" y="1920240"/>
            <a:ext cx="52578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6D3D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46520" y="2286000"/>
            <a:ext cx="822960" cy="822960"/>
          </a:xfrm>
          <a:prstGeom prst="ellipse">
            <a:avLst/>
          </a:prstGeom>
          <a:solidFill>
            <a:srgbClr val="9B3D57"/>
          </a:solidFill>
          <a:ln w="12700">
            <a:solidFill>
              <a:srgbClr val="9B3D5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249631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98080" y="22677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과학 실험 60분 → 90분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7498080" y="276148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이유 · 시간이 짧다는 의견이 가장 많음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40080" y="3749040"/>
            <a:ext cx="52578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6D3D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14400" y="4114800"/>
            <a:ext cx="822960" cy="822960"/>
          </a:xfrm>
          <a:prstGeom prst="ellipse">
            <a:avLst/>
          </a:prstGeom>
          <a:solidFill>
            <a:srgbClr val="9B3D57"/>
          </a:solidFill>
          <a:ln w="12700">
            <a:solidFill>
              <a:srgbClr val="9B3D57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432511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965960" y="40965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요리 재료비 예산 10% 늘리기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1965960" y="459028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이유 · 이번에 재료비 62,000원 초과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172200" y="3749040"/>
            <a:ext cx="52578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6D3D9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46520" y="4114800"/>
            <a:ext cx="822960" cy="822960"/>
          </a:xfrm>
          <a:prstGeom prst="ellipse">
            <a:avLst/>
          </a:prstGeom>
          <a:solidFill>
            <a:srgbClr val="9B3D57"/>
          </a:solidFill>
          <a:ln w="12700">
            <a:solidFill>
              <a:srgbClr val="9B3D57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4325112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98080" y="40965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전화 외에 온라인 신청 추가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7498080" y="459028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이유 · 신청 첫날 전화가 몰려 연결이 어려웠음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· 직접 만든 예시(가상 자료)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9B3D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함께해 주셔서 감사합니다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FD3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여름 프로그램은 이분들 덕분에 운영할 수 있었습니다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29000" cy="2011680"/>
          </a:xfrm>
          <a:prstGeom prst="roundRect">
            <a:avLst>
              <a:gd name="adj" fmla="val 4545"/>
            </a:avLst>
          </a:prstGeom>
          <a:solidFill>
            <a:srgbClr val="7E3046"/>
          </a:solidFill>
          <a:ln w="12700">
            <a:solidFill>
              <a:srgbClr val="7E30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3774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FD3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자원봉사자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8346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14명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5661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FD3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접수 · 안내 · 정리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2103120"/>
            <a:ext cx="3429000" cy="2011680"/>
          </a:xfrm>
          <a:prstGeom prst="roundRect">
            <a:avLst>
              <a:gd name="adj" fmla="val 4545"/>
            </a:avLst>
          </a:prstGeom>
          <a:solidFill>
            <a:srgbClr val="7E3046"/>
          </a:solidFill>
          <a:ln w="12700">
            <a:solidFill>
              <a:srgbClr val="7E304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23774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FD3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강사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8346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3명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5661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FD3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요리 · 과학 · 그림책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2103120"/>
            <a:ext cx="3429000" cy="2011680"/>
          </a:xfrm>
          <a:prstGeom prst="roundRect">
            <a:avLst>
              <a:gd name="adj" fmla="val 4545"/>
            </a:avLst>
          </a:prstGeom>
          <a:solidFill>
            <a:srgbClr val="7E3046"/>
          </a:solidFill>
          <a:ln w="12700">
            <a:solidFill>
              <a:srgbClr val="7E304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66760" y="23774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FD3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참가한 분들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8346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286명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35661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FD3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연인원 · 정원의 92%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846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보고 · 겨울방학 프로그램 계획(11월 운영위원회)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59AA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· 직접 만든 예시(가상 자료)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D59AA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햇빛작은도서관(가상) 여름방학 프로그램 결과 보고</dc:title>
  <dc:subject>PptxGenJS Presentation</dc:subject>
  <dc:creator>swan (sample)</dc:creator>
  <cp:lastModifiedBy>swan (sample)</cp:lastModifiedBy>
  <cp:revision>1</cp:revision>
  <dcterms:created xsi:type="dcterms:W3CDTF">2026-09-24T09:26:18Z</dcterms:created>
  <dcterms:modified xsi:type="dcterms:W3CDTF">2026-09-24T09:26:18Z</dcterms:modified>
</cp:coreProperties>
</file>