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embeddedFontLst>
    <p:embeddedFont>
      <p:font typeface="Pretendard" pitchFamily="2" charset="-127"/>
      <p:regular r:id="rIdSwanFont1"/>
      <p:bold r:id="rIdSwan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SwanFont1" Type="http://schemas.openxmlformats.org/officeDocument/2006/relationships/font" Target="fonts/font1.fntdata"/><Relationship Id="rIdSwanFont2" Type="http://schemas.openxmlformats.org/officeDocument/2006/relationships/font" Target="fonts/font2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평소</c:v>
                </c:pt>
              </c:strCache>
            </c:strRef>
          </c:tx>
          <c:spPr>
            <a:solidFill>
              <a:srgbClr val="9CC5C9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Pretendard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8:00</c:v>
                  </c:pt>
                  <c:pt idx="1">
                    <c:v>9:00</c:v>
                  </c:pt>
                  <c:pt idx="2">
                    <c:v>10:00</c:v>
                  </c:pt>
                  <c:pt idx="3">
                    <c:v>11:00</c:v>
                  </c:pt>
                  <c:pt idx="4">
                    <c:v>12:00</c:v>
                  </c:pt>
                  <c:pt idx="5">
                    <c:v>13:00</c:v>
                  </c:pt>
                  <c:pt idx="6">
                    <c:v>14:00</c:v>
                  </c:pt>
                  <c:pt idx="7">
                    <c:v>15:00</c:v>
                  </c:pt>
                  <c:pt idx="8">
                    <c:v>16:00</c:v>
                  </c:pt>
                  <c:pt idx="9">
                    <c:v>17:00</c:v>
                  </c:pt>
                  <c:pt idx="10">
                    <c:v>18:00</c:v>
                  </c:pt>
                  <c:pt idx="11">
                    <c:v>19:00</c:v>
                  </c:pt>
                  <c:pt idx="12">
                    <c:v>20:00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18</c:v>
                </c:pt>
                <c:pt idx="1">
                  <c:v>26</c:v>
                </c:pt>
                <c:pt idx="2">
                  <c:v>21</c:v>
                </c:pt>
                <c:pt idx="3">
                  <c:v>30</c:v>
                </c:pt>
                <c:pt idx="4">
                  <c:v>0</c:v>
                </c:pt>
                <c:pt idx="5">
                  <c:v>0</c:v>
                </c:pt>
                <c:pt idx="6">
                  <c:v>22</c:v>
                </c:pt>
                <c:pt idx="7">
                  <c:v>19</c:v>
                </c:pt>
                <c:pt idx="8">
                  <c:v>24</c:v>
                </c:pt>
                <c:pt idx="9">
                  <c:v>35</c:v>
                </c:pt>
                <c:pt idx="10">
                  <c:v>0</c:v>
                </c:pt>
                <c:pt idx="11">
                  <c:v>38</c:v>
                </c:pt>
                <c:pt idx="12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가장 바쁜 때</c:v>
                </c:pt>
              </c:strCache>
            </c:strRef>
          </c:tx>
          <c:spPr>
            <a:solidFill>
              <a:srgbClr val="1F6F78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Pretendard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8:00</c:v>
                  </c:pt>
                  <c:pt idx="1">
                    <c:v>9:00</c:v>
                  </c:pt>
                  <c:pt idx="2">
                    <c:v>10:00</c:v>
                  </c:pt>
                  <c:pt idx="3">
                    <c:v>11:00</c:v>
                  </c:pt>
                  <c:pt idx="4">
                    <c:v>12:00</c:v>
                  </c:pt>
                  <c:pt idx="5">
                    <c:v>13:00</c:v>
                  </c:pt>
                  <c:pt idx="6">
                    <c:v>14:00</c:v>
                  </c:pt>
                  <c:pt idx="7">
                    <c:v>15:00</c:v>
                  </c:pt>
                  <c:pt idx="8">
                    <c:v>16:00</c:v>
                  </c:pt>
                  <c:pt idx="9">
                    <c:v>17:00</c:v>
                  </c:pt>
                  <c:pt idx="10">
                    <c:v>18:00</c:v>
                  </c:pt>
                  <c:pt idx="11">
                    <c:v>19:00</c:v>
                  </c:pt>
                  <c:pt idx="12">
                    <c:v>20:00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52</c:v>
                </c:pt>
                <c:pt idx="5">
                  <c:v>44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47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</c:ser>
        <c:dLbls>
          <c:numFmt formatCode="#,##0;;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Pretendard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4444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가게 이름·숫자·전화번호는 모두 가상입니다(swan 샘플).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6F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188720"/>
            <a:ext cx="3383280" cy="33832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417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4E0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밀과보리 베이커리(가상) · 신입 직원 교육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96596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처음 오신 분을</a:t>
            </a:r>
            <a:endParaRPr lang="en-US" sz="5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위한 매장 안내</a:t>
            </a:r>
            <a:endParaRPr lang="en-US" sz="5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14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4E0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주에 꼭 알아야 할 것만 모았습니다 · 2026년 10월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C0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· 직접 만든 예시(가상 자료)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CC0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배울 것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천천히 보시고, 모르는 건 바로 물어보세요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1097280"/>
          </a:xfrm>
          <a:prstGeom prst="roundRect">
            <a:avLst>
              <a:gd name="adj" fmla="val 8333"/>
            </a:avLst>
          </a:prstGeom>
          <a:solidFill>
            <a:srgbClr val="E8F2F3"/>
          </a:solidFill>
          <a:ln w="12700">
            <a:solidFill>
              <a:srgbClr val="E8F2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2860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F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216712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하루 일과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57860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출근부터 마감까지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965960"/>
            <a:ext cx="5257800" cy="1097280"/>
          </a:xfrm>
          <a:prstGeom prst="roundRect">
            <a:avLst>
              <a:gd name="adj" fmla="val 8333"/>
            </a:avLst>
          </a:prstGeom>
          <a:solidFill>
            <a:srgbClr val="E8F2F3"/>
          </a:solidFill>
          <a:ln w="12700">
            <a:solidFill>
              <a:srgbClr val="E8F2F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22860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F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0" y="216712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바쁜 시간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257860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손님이 몰리는 때와 준비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257800" cy="1097280"/>
          </a:xfrm>
          <a:prstGeom prst="roundRect">
            <a:avLst>
              <a:gd name="adj" fmla="val 8333"/>
            </a:avLst>
          </a:prstGeom>
          <a:solidFill>
            <a:srgbClr val="E8F2F3"/>
          </a:solidFill>
          <a:ln w="12700">
            <a:solidFill>
              <a:srgbClr val="E8F2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3611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F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349300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계산과 포장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783080" y="390448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 단계 순서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3291840"/>
            <a:ext cx="5257800" cy="1097280"/>
          </a:xfrm>
          <a:prstGeom prst="roundRect">
            <a:avLst>
              <a:gd name="adj" fmla="val 8333"/>
            </a:avLst>
          </a:prstGeom>
          <a:solidFill>
            <a:srgbClr val="E8F2F3"/>
          </a:solidFill>
          <a:ln w="12700">
            <a:solidFill>
              <a:srgbClr val="E8F2F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3611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F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349300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위생 약속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390448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지키는 여섯 가지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617720"/>
            <a:ext cx="5257800" cy="1097280"/>
          </a:xfrm>
          <a:prstGeom prst="roundRect">
            <a:avLst>
              <a:gd name="adj" fmla="val 8333"/>
            </a:avLst>
          </a:prstGeom>
          <a:solidFill>
            <a:srgbClr val="E8F2F3"/>
          </a:solidFill>
          <a:ln w="12700">
            <a:solidFill>
              <a:srgbClr val="E8F2F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4937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F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783080" y="481888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이럴 땐 이렇게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783080" y="523036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 받는 질문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72200" y="4617720"/>
            <a:ext cx="5257800" cy="1097280"/>
          </a:xfrm>
          <a:prstGeom prst="roundRect">
            <a:avLst>
              <a:gd name="adj" fmla="val 8333"/>
            </a:avLst>
          </a:prstGeom>
          <a:solidFill>
            <a:srgbClr val="E8F2F3"/>
          </a:solidFill>
          <a:ln w="12700">
            <a:solidFill>
              <a:srgbClr val="E8F2F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92240" y="4937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F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481888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주 일정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0" y="523036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날짜별로 배우는 것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· 직접 만든 예시(가상 자료)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하루 일과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평일 기준 · 주말은 문 여는 시간이 1시간 늦습니다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1153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7040880"/>
                <a:gridCol w="231343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할 일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누가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6F7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07:00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출근 · 손 씻기 · 모자와 앞치마 착용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모두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6F7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07:10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진열대 닦기 · 첫 빵 진열 · 가격표 확인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오전 근무자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6F7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08:00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 열기 · 계산대 준비(거스름돈 확인)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오전 근무자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6F7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12:00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점심 손님 응대 — 하루 중 가장 바쁜 시간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모두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6F7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15:00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교대 · 오전 판매 수량 확인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오전·오후 근무자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6F7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20:30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남은 빵 정리 · 나눔용 빵 따로 담기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오후 근무자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6F7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21:00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 닫기 · 청소 · 계산대 마감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오후 근무자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· 직접 만든 예시(가상 자료)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손님은 점심과 퇴근 시간에 몰립니다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시간대별 평균 손님 수 · 지난달 평일 기준(단위: 명)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83080"/>
          <a:ext cx="78638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915400" y="1874520"/>
            <a:ext cx="2636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시간엔 이렇게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915400" y="2377440"/>
            <a:ext cx="2636215" cy="1508760"/>
          </a:xfrm>
          <a:prstGeom prst="roundRect">
            <a:avLst>
              <a:gd name="adj" fmla="val 6061"/>
            </a:avLst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0" y="2578608"/>
            <a:ext cx="2270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12:00 ~ 14:00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144000" y="3017520"/>
            <a:ext cx="2316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4E0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계산대 두 곳을 모두 엽니다.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4E0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포장은 옆 사람이 돕습니다.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915400" y="4114800"/>
            <a:ext cx="2636215" cy="1508760"/>
          </a:xfrm>
          <a:prstGeom prst="roundRect">
            <a:avLst>
              <a:gd name="adj" fmla="val 6061"/>
            </a:avLst>
          </a:prstGeom>
          <a:solidFill>
            <a:srgbClr val="E8F2F3"/>
          </a:solidFill>
          <a:ln w="12700">
            <a:solidFill>
              <a:srgbClr val="E8F2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144000" y="4315968"/>
            <a:ext cx="2270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17:00 ~ 19:00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9144000" y="4754880"/>
            <a:ext cx="2316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빵 채우기는 16시 30분까지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끝내 둡니다.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· 직접 만든 예시(가상 자료)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계산과 포장은 네 단계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손님이 많아도 이 순서는 건너뛰지 않습니다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E8F2F3"/>
          </a:solidFill>
          <a:ln w="12700">
            <a:solidFill>
              <a:srgbClr val="E8F2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9CC5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1546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인사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7490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"어서 오세요"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눈을 맞추고 먼저 인사합니다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3154680" y="310896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CC5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410712" y="201168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8503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4E0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3685032" y="31546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빵 확인 · 계산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3685032" y="37490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4E0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쟁반의 빵 개수를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4E0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소리 내어 확인합니다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5925312" y="310896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CC5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181344" y="201168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E8F2F3"/>
          </a:solidFill>
          <a:ln w="12700">
            <a:solidFill>
              <a:srgbClr val="E8F2F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5566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9CC5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6455664" y="31546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포장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6455664" y="37490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크림빵·샌드위치는 따로 담고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봉투가 필요한지 여쭙니다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695944" y="310896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CC5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8951976" y="201168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E8F2F3"/>
          </a:solidFill>
          <a:ln w="12700">
            <a:solidFill>
              <a:srgbClr val="E8F2F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26296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9CC5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9226296" y="31546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영수증 · 인사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9226296" y="37490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영수증이 필요한지 여쭙고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"감사합니다"로 마무리합니다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440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6F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2단계에서 개수를 소리 내어 말하면 계산 실수가 줄어듭니다.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· 직접 만든 예시(가상 자료)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지키는 위생 약속 여섯 가지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손님이 보고 계시다고 생각하고 지킵니다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822960" cy="82296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313432"/>
            <a:ext cx="402336" cy="4023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21305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 씻기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691640" y="25603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출근 후, 화장실 다녀온 뒤,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돈을 만진 뒤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43400" y="2103120"/>
            <a:ext cx="822960" cy="82296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2313432"/>
            <a:ext cx="402336" cy="40233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394960" y="21305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모자와 앞치마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5394960" y="25603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매장에 나오기 전에 착용합니다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046720" y="2103120"/>
            <a:ext cx="822960" cy="82296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231343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098280" y="21305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빵은 집게로만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9098280" y="25603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맨손으로 빵을 만지지 않습니다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4206240"/>
            <a:ext cx="822960" cy="82296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4416552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91640" y="42336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날짜 라벨 확인</a:t>
            </a:r>
            <a:endParaRPr lang="en-US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1691640" y="46634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진열 전에 만든 날짜를 봅니다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4343400" y="4206240"/>
            <a:ext cx="822960" cy="82296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712" y="4416552"/>
            <a:ext cx="402336" cy="40233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394960" y="42336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크림 제품은 냉장</a:t>
            </a:r>
            <a:endParaRPr lang="en-US" sz="1900" dirty="0"/>
          </a:p>
        </p:txBody>
      </p:sp>
      <p:sp>
        <p:nvSpPr>
          <p:cNvPr id="23" name="Text 16"/>
          <p:cNvSpPr txBox="1"/>
          <p:nvPr/>
        </p:nvSpPr>
        <p:spPr>
          <a:xfrm>
            <a:off x="5394960" y="46634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크림·생과일 제품은 냉장 진열대에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8046720" y="4206240"/>
            <a:ext cx="822960" cy="82296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7032" y="4416552"/>
            <a:ext cx="402336" cy="40233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9098280" y="42336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아프면 먼저 연락</a:t>
            </a:r>
            <a:endParaRPr lang="en-US" sz="1900" dirty="0"/>
          </a:p>
        </p:txBody>
      </p:sp>
      <p:sp>
        <p:nvSpPr>
          <p:cNvPr id="27" name="Text 19"/>
          <p:cNvSpPr txBox="1"/>
          <p:nvPr/>
        </p:nvSpPr>
        <p:spPr>
          <a:xfrm>
            <a:off x="9098280" y="46634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열·설사가 있으면 출근 전에 전화</a:t>
            </a:r>
            <a:endParaRPr lang="en-US" sz="1400" dirty="0"/>
          </a:p>
        </p:txBody>
      </p:sp>
      <p:sp>
        <p:nvSpPr>
          <p:cNvPr id="28" name="Text 20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· 직접 만든 예시(가상 자료)</a:t>
            </a:r>
            <a:endParaRPr lang="en-US" sz="1000" dirty="0"/>
          </a:p>
        </p:txBody>
      </p:sp>
      <p:sp>
        <p:nvSpPr>
          <p:cNvPr id="29" name="Text 21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이럴 땐 이렇게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 받는 질문과 답하는 방법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E8F2F3"/>
          </a:solidFill>
          <a:ln w="12700">
            <a:solidFill>
              <a:srgbClr val="E8F2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 빵에 견과류 들어가요?"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828800"/>
            <a:ext cx="6522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진열대 옆 성분표를 함께 확인합니다. 모르면 짐작해서 답하지 말고 사장님께 여쭙니다.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852928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FE3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85292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"단팥빵 없어요?"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2852928"/>
            <a:ext cx="6522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주방 벽의 굽는 시간표를 보고 다음에 나오는 시간을 알려 드립니다.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877056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E8F2F3"/>
          </a:solidFill>
          <a:ln w="12700">
            <a:solidFill>
              <a:srgbClr val="E8F2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877056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"환불해 주세요."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3877056"/>
            <a:ext cx="6522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영수증을 확인하고 사장님이나 매니저를 부릅니다. 혼자 처리하지 않습니다.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FE3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4901184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"케이크 예약할게요."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4901184"/>
            <a:ext cx="6522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예약 노트에 이름·연락처·찾으러 오실 시간을 적고 한 번 더 읽어 드립니다.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· 직접 만든 예시(가상 자료)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6F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모르면 언제든 물어보세요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4E0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주는 이렇게 배웁니다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175960"/>
          </a:solidFill>
          <a:ln w="12700">
            <a:solidFill>
              <a:srgbClr val="17596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2860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4E0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1일차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7432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옆에서 보기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3375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4E0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선배 옆에서 계산과 포장을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4E0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지켜봅니다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3400" y="201168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175960"/>
          </a:solidFill>
          <a:ln w="12700">
            <a:solidFill>
              <a:srgbClr val="1759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22860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4E0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2~3일차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7432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 연습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3375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4E0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선배와 함께 계산대에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4E0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섭니다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046720" y="201168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175960"/>
          </a:solidFill>
          <a:ln w="12700">
            <a:solidFill>
              <a:srgbClr val="17596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6760" y="22860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4E0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4~5일차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7432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포장 · 진열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33375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4E0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혼자 포장하고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4E0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빵을 채워 봅니다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4754880"/>
            <a:ext cx="548640" cy="548640"/>
          </a:xfrm>
          <a:prstGeom prst="ellipse">
            <a:avLst/>
          </a:prstGeom>
          <a:solidFill>
            <a:srgbClr val="175960"/>
          </a:solidFill>
          <a:ln w="12700">
            <a:solidFill>
              <a:srgbClr val="175960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4901184"/>
            <a:ext cx="256032" cy="256032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17320" y="477316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 010-0000-0000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5303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4E0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번호입니다 · 근무 중에는 계산대 옆 벨을 눌러 주세요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C0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· 직접 만든 예시(가상 자료)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CC0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밀과보리 베이커리(가상) 신입 직원 교육</dc:title>
  <dc:subject>PptxGenJS Presentation</dc:subject>
  <dc:creator>swan (sample)</dc:creator>
  <cp:lastModifiedBy>swan (sample)</cp:lastModifiedBy>
  <cp:revision>1</cp:revision>
  <dcterms:created xsi:type="dcterms:W3CDTF">2026-09-24T08:54:21Z</dcterms:created>
  <dcterms:modified xsi:type="dcterms:W3CDTF">2026-09-24T08:54:21Z</dcterms:modified>
</cp:coreProperties>
</file>