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0186ef53234985" /><Relationship Type="http://schemas.openxmlformats.org/officeDocument/2006/relationships/extended-properties" Target="/docProps/app.xml" Id="Rc3c433761cd94017" /><Relationship Type="http://schemas.openxmlformats.org/officeDocument/2006/relationships/officeDocument" Target="/ppt/presentation.xml" Id="R9f008b16153a4d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a70f0d6274248"/>
  </p:sldMasterIdLst>
  <p:notesMasterIdLst>
    <p:notesMasterId xmlns:r="http://schemas.openxmlformats.org/officeDocument/2006/relationships" r:id="R07a4ffb644cd4dac"/>
  </p:notesMasterIdLst>
  <p:sldIdLst>
    <p:sldId xmlns:r="http://schemas.openxmlformats.org/officeDocument/2006/relationships" id="256" r:id="R03a02a84ac174b1f"/>
    <p:sldId xmlns:r="http://schemas.openxmlformats.org/officeDocument/2006/relationships" id="257" r:id="R746a2fc79ff94c38"/>
    <p:sldId xmlns:r="http://schemas.openxmlformats.org/officeDocument/2006/relationships" id="258" r:id="R7f30d938747c4a02"/>
    <p:sldId xmlns:r="http://schemas.openxmlformats.org/officeDocument/2006/relationships" id="259" r:id="Reab32c2b37db422f"/>
    <p:sldId xmlns:r="http://schemas.openxmlformats.org/officeDocument/2006/relationships" id="260" r:id="R2fba959c84424139"/>
    <p:sldId xmlns:r="http://schemas.openxmlformats.org/officeDocument/2006/relationships" id="261" r:id="R1bf287fa0f5742da"/>
    <p:sldId xmlns:r="http://schemas.openxmlformats.org/officeDocument/2006/relationships" id="262" r:id="R67db3e4789b148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91763832d74a06" /><Relationship Type="http://schemas.openxmlformats.org/officeDocument/2006/relationships/slideMaster" Target="/ppt/slideMasters/slideMaster1.xml" Id="R04ca70f0d6274248" /><Relationship Type="http://schemas.openxmlformats.org/officeDocument/2006/relationships/notesMaster" Target="/ppt/notesMasters/notesMaster1.xml" Id="R07a4ffb644cd4dac" /><Relationship Type="http://schemas.openxmlformats.org/officeDocument/2006/relationships/presProps" Target="/ppt/presProps.xml" Id="R5db8e9cbd351406e" /><Relationship Type="http://schemas.openxmlformats.org/officeDocument/2006/relationships/tableStyles" Target="/ppt/tableStyles.xml" Id="R0a1185b9597e4590" /><Relationship Type="http://schemas.openxmlformats.org/officeDocument/2006/relationships/slide" Target="/ppt/slides/slide1.xml" Id="R03a02a84ac174b1f" /><Relationship Type="http://schemas.openxmlformats.org/officeDocument/2006/relationships/slide" Target="/ppt/slides/slide2.xml" Id="R746a2fc79ff94c38" /><Relationship Type="http://schemas.openxmlformats.org/officeDocument/2006/relationships/slide" Target="/ppt/slides/slide3.xml" Id="R7f30d938747c4a02" /><Relationship Type="http://schemas.openxmlformats.org/officeDocument/2006/relationships/slide" Target="/ppt/slides/slide4.xml" Id="Reab32c2b37db422f" /><Relationship Type="http://schemas.openxmlformats.org/officeDocument/2006/relationships/slide" Target="/ppt/slides/slide5.xml" Id="R2fba959c84424139" /><Relationship Type="http://schemas.openxmlformats.org/officeDocument/2006/relationships/slide" Target="/ppt/slides/slide6.xml" Id="R1bf287fa0f5742da" /><Relationship Type="http://schemas.openxmlformats.org/officeDocument/2006/relationships/slide" Target="/ppt/slides/slide7.xml" Id="R67db3e4789b148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3e35fee60f40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4e52d8b8b44083" /><Relationship Type="http://schemas.openxmlformats.org/officeDocument/2006/relationships/notesMaster" Target="/ppt/notesMasters/notesMaster1.xml" Id="R7a98b3f957c74f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536ca51e946f0" /><Relationship Type="http://schemas.openxmlformats.org/officeDocument/2006/relationships/notesMaster" Target="/ppt/notesMasters/notesMaster1.xml" Id="R4f49c359d70948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70464d8bc04cb8" /><Relationship Type="http://schemas.openxmlformats.org/officeDocument/2006/relationships/notesMaster" Target="/ppt/notesMasters/notesMaster1.xml" Id="Rb2bfe46eff824f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3be37d58ab4cc7" /><Relationship Type="http://schemas.openxmlformats.org/officeDocument/2006/relationships/notesMaster" Target="/ppt/notesMasters/notesMaster1.xml" Id="Rf6f3e176e50247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6543b21ffc46de" /><Relationship Type="http://schemas.openxmlformats.org/officeDocument/2006/relationships/notesMaster" Target="/ppt/notesMasters/notesMaster1.xml" Id="R1749851a4ef34d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4e2801abb24bad" /><Relationship Type="http://schemas.openxmlformats.org/officeDocument/2006/relationships/notesMaster" Target="/ppt/notesMasters/notesMaster1.xml" Id="Rc275d9d0711a4a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e835b056dd447d" /><Relationship Type="http://schemas.openxmlformats.org/officeDocument/2006/relationships/notesMaster" Target="/ppt/notesMasters/notesMaster1.xml" Id="R51e8bd53d0ef44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3f47333c94f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c8c176c02548c7" /><Relationship Type="http://schemas.openxmlformats.org/officeDocument/2006/relationships/slideLayout" Target="/ppt/slideLayouts/slideLayout1.xml" Id="R25eca47398bc40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eca47398bc40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10d0c85df46ea" /><Relationship Type="http://schemas.openxmlformats.org/officeDocument/2006/relationships/notesSlide" Target="/ppt/notesSlides/notesSlide1.xml" Id="R205462aa4e2749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fe01649b342c9" /><Relationship Type="http://schemas.openxmlformats.org/officeDocument/2006/relationships/notesSlide" Target="/ppt/notesSlides/notesSlide2.xml" Id="Rb6eca8cee7cd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cabfce56d47a0" /><Relationship Type="http://schemas.openxmlformats.org/officeDocument/2006/relationships/notesSlide" Target="/ppt/notesSlides/notesSlide3.xml" Id="Rb0ae7e08aa324b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6efb5b6894673" /><Relationship Type="http://schemas.openxmlformats.org/officeDocument/2006/relationships/notesSlide" Target="/ppt/notesSlides/notesSlide4.xml" Id="R80252b4a486b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f3f7ee9c84720" /><Relationship Type="http://schemas.openxmlformats.org/officeDocument/2006/relationships/notesSlide" Target="/ppt/notesSlides/notesSlide5.xml" Id="R27f9e2c3dc224c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5fd6c28ca4682" /><Relationship Type="http://schemas.openxmlformats.org/officeDocument/2006/relationships/notesSlide" Target="/ppt/notesSlides/notesSlide6.xml" Id="R23e89324a22b45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5e9b4550c4add" /><Relationship Type="http://schemas.openxmlformats.org/officeDocument/2006/relationships/notesSlide" Target="/ppt/notesSlides/notesSlide7.xml" Id="R446bb3d459a74c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py-1">
            <a:extLst xmlns:a="http://schemas.openxmlformats.org/drawingml/2006/main">
              <a:ext uri="{FF2B5EF4-FFF2-40B4-BE49-F238E27FC236}">
                <a16:creationId xmlns:a16="http://schemas.microsoft.com/office/drawing/2014/main" id="{14B05273-63ED-4FD1-85E9-69050D1C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OPERATIONS BRIEF  /  2026.09</a:t>
            </a:r>
          </a:p>
        </p:txBody>
      </p:sp>
      <p:sp>
        <p:nvSpPr>
          <p:cNvPr id="2" name="copy-2">
            <a:extLst xmlns:a="http://schemas.openxmlformats.org/drawingml/2006/main">
              <a:ext uri="{FF2B5EF4-FFF2-40B4-BE49-F238E27FC236}">
                <a16:creationId xmlns:a16="http://schemas.microsoft.com/office/drawing/2014/main" id="{FDC8841F-5AA6-4BDE-8C52-A9ED360A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3">
            <a:extLst xmlns:a="http://schemas.openxmlformats.org/drawingml/2006/main">
              <a:ext uri="{FF2B5EF4-FFF2-40B4-BE49-F238E27FC236}">
                <a16:creationId xmlns:a16="http://schemas.microsoft.com/office/drawing/2014/main" id="{E1D566C6-5484-4543-82A8-E2160AD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4">
            <a:extLst xmlns:a="http://schemas.openxmlformats.org/drawingml/2006/main">
              <a:ext uri="{FF2B5EF4-FFF2-40B4-BE49-F238E27FC236}">
                <a16:creationId xmlns:a16="http://schemas.microsoft.com/office/drawing/2014/main" id="{CD9B7B9E-88C0-47CD-9718-9826EF75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copy-5">
            <a:extLst xmlns:a="http://schemas.openxmlformats.org/drawingml/2006/main">
              <a:ext uri="{FF2B5EF4-FFF2-40B4-BE49-F238E27FC236}">
                <a16:creationId xmlns:a16="http://schemas.microsoft.com/office/drawing/2014/main" id="{198D59A0-56C1-4F7D-BF34-9DC7B87C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076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 문의에서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결제까지</a:t>
            </a:r>
          </a:p>
        </p:txBody>
      </p:sp>
      <p:sp>
        <p:nvSpPr>
          <p:cNvPr id="6" name="copy-6">
            <a:extLst xmlns:a="http://schemas.openxmlformats.org/drawingml/2006/main">
              <a:ext uri="{FF2B5EF4-FFF2-40B4-BE49-F238E27FC236}">
                <a16:creationId xmlns:a16="http://schemas.microsoft.com/office/drawing/2014/main" id="{6D908AAE-5FA0-4C80-9ADE-D5A979CA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862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디지털 제작 서비스의 상담 전환 개선안</a:t>
            </a:r>
          </a:p>
        </p:txBody>
      </p:sp>
      <p:sp>
        <p:nvSpPr>
          <p:cNvPr id="7" name="copy-7">
            <a:extLst xmlns:a="http://schemas.openxmlformats.org/drawingml/2006/main">
              <a:ext uri="{FF2B5EF4-FFF2-40B4-BE49-F238E27FC236}">
                <a16:creationId xmlns:a16="http://schemas.microsoft.com/office/drawing/2014/main" id="{BA78B963-CD67-413E-B3EF-4E88B8EB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86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측정 기준 · 고객 응대 · 샘플 제공 실험</a:t>
            </a:r>
          </a:p>
        </p:txBody>
      </p:sp>
    </p:spTree>
    <p:extLst>
      <p:ext uri="{BB962C8B-B14F-4D97-AF65-F5344CB8AC3E}">
        <p14:creationId xmlns:p14="http://schemas.microsoft.com/office/powerpoint/2010/main" val="347960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-8">
            <a:extLst xmlns:a="http://schemas.openxmlformats.org/drawingml/2006/main">
              <a:ext uri="{FF2B5EF4-FFF2-40B4-BE49-F238E27FC236}">
                <a16:creationId xmlns:a16="http://schemas.microsoft.com/office/drawing/2014/main" id="{83124AE4-DB86-4B73-BA53-03456A31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01  /  PRIORITY</a:t>
            </a:r>
          </a:p>
        </p:txBody>
      </p:sp>
      <p:sp>
        <p:nvSpPr>
          <p:cNvPr id="2" name="copy-9">
            <a:extLst xmlns:a="http://schemas.openxmlformats.org/drawingml/2006/main">
              <a:ext uri="{FF2B5EF4-FFF2-40B4-BE49-F238E27FC236}">
                <a16:creationId xmlns:a16="http://schemas.microsoft.com/office/drawing/2014/main" id="{1310C167-1D86-43EE-862F-A0E2D7D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10">
            <a:extLst xmlns:a="http://schemas.openxmlformats.org/drawingml/2006/main">
              <a:ext uri="{FF2B5EF4-FFF2-40B4-BE49-F238E27FC236}">
                <a16:creationId xmlns:a16="http://schemas.microsoft.com/office/drawing/2014/main" id="{84EF3D1E-A7C8-409A-8883-36124F6F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11">
            <a:extLst xmlns:a="http://schemas.openxmlformats.org/drawingml/2006/main">
              <a:ext uri="{FF2B5EF4-FFF2-40B4-BE49-F238E27FC236}">
                <a16:creationId xmlns:a16="http://schemas.microsoft.com/office/drawing/2014/main" id="{FD1D758E-E339-4729-AEB2-F0F124D6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copy-12">
            <a:extLst xmlns:a="http://schemas.openxmlformats.org/drawingml/2006/main">
              <a:ext uri="{FF2B5EF4-FFF2-40B4-BE49-F238E27FC236}">
                <a16:creationId xmlns:a16="http://schemas.microsoft.com/office/drawing/2014/main" id="{25F7D533-FE57-470E-AFF4-75459FD8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가격을 바꾸기 전에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어느 단계에서 멈추는지 확인한다</a:t>
            </a:r>
          </a:p>
        </p:txBody>
      </p:sp>
      <p:sp>
        <p:nvSpPr>
          <p:cNvPr id="6" name="copy-13">
            <a:extLst xmlns:a="http://schemas.openxmlformats.org/drawingml/2006/main">
              <a:ext uri="{FF2B5EF4-FFF2-40B4-BE49-F238E27FC236}">
                <a16:creationId xmlns:a16="http://schemas.microsoft.com/office/drawing/2014/main" id="{A7934D16-918D-4C39-922E-3E49A879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copy-14">
            <a:extLst xmlns:a="http://schemas.openxmlformats.org/drawingml/2006/main">
              <a:ext uri="{FF2B5EF4-FFF2-40B4-BE49-F238E27FC236}">
                <a16:creationId xmlns:a16="http://schemas.microsoft.com/office/drawing/2014/main" id="{1795438E-1E37-4552-B5B6-061AD604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응대 누락</a:t>
            </a:r>
          </a:p>
        </p:txBody>
      </p:sp>
      <p:sp>
        <p:nvSpPr>
          <p:cNvPr id="8" name="copy-15">
            <a:extLst xmlns:a="http://schemas.openxmlformats.org/drawingml/2006/main">
              <a:ext uri="{FF2B5EF4-FFF2-40B4-BE49-F238E27FC236}">
                <a16:creationId xmlns:a16="http://schemas.microsoft.com/office/drawing/2014/main" id="{EDCCA030-07B9-4756-A3CE-9DF3C8E6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고객의 실제 질문을 먼저 찾고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답변 발송까지 확인한다.</a:t>
            </a:r>
          </a:p>
        </p:txBody>
      </p:sp>
      <p:sp>
        <p:nvSpPr>
          <p:cNvPr id="9" name="copy-16">
            <a:extLst xmlns:a="http://schemas.openxmlformats.org/drawingml/2006/main">
              <a:ext uri="{FF2B5EF4-FFF2-40B4-BE49-F238E27FC236}">
                <a16:creationId xmlns:a16="http://schemas.microsoft.com/office/drawing/2014/main" id="{783D8936-69F2-42A2-81E1-5A2A2724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증거: 질문·답변 시각</a:t>
            </a:r>
          </a:p>
        </p:txBody>
      </p:sp>
      <p:sp>
        <p:nvSpPr>
          <p:cNvPr id="10" name="copy-17">
            <a:extLst xmlns:a="http://schemas.openxmlformats.org/drawingml/2006/main">
              <a:ext uri="{FF2B5EF4-FFF2-40B4-BE49-F238E27FC236}">
                <a16:creationId xmlns:a16="http://schemas.microsoft.com/office/drawing/2014/main" id="{A463E605-F172-4090-8701-D84A52F7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copy-18">
            <a:extLst xmlns:a="http://schemas.openxmlformats.org/drawingml/2006/main">
              <a:ext uri="{FF2B5EF4-FFF2-40B4-BE49-F238E27FC236}">
                <a16:creationId xmlns:a16="http://schemas.microsoft.com/office/drawing/2014/main" id="{404782DF-DFF5-49E1-8342-8F8FA972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956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결과물 이해</a:t>
            </a:r>
          </a:p>
        </p:txBody>
      </p:sp>
      <p:sp>
        <p:nvSpPr>
          <p:cNvPr id="12" name="copy-19">
            <a:extLst xmlns:a="http://schemas.openxmlformats.org/drawingml/2006/main">
              <a:ext uri="{FF2B5EF4-FFF2-40B4-BE49-F238E27FC236}">
                <a16:creationId xmlns:a16="http://schemas.microsoft.com/office/drawing/2014/main" id="{89FCA35D-6694-4E00-B6B9-DAF87296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053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요청과 가장 가까운 샘플 1개로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입력과 결과를 보여준다.</a:t>
            </a:r>
          </a:p>
        </p:txBody>
      </p:sp>
      <p:sp>
        <p:nvSpPr>
          <p:cNvPr id="13" name="copy-20">
            <a:extLst xmlns:a="http://schemas.openxmlformats.org/drawingml/2006/main">
              <a:ext uri="{FF2B5EF4-FFF2-40B4-BE49-F238E27FC236}">
                <a16:creationId xmlns:a16="http://schemas.microsoft.com/office/drawing/2014/main" id="{57D417DA-B962-4548-8B4E-7A394116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76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증거: 샘플·검수 기록</a:t>
            </a:r>
          </a:p>
        </p:txBody>
      </p:sp>
      <p:sp>
        <p:nvSpPr>
          <p:cNvPr id="14" name="copy-21">
            <a:extLst xmlns:a="http://schemas.openxmlformats.org/drawingml/2006/main">
              <a:ext uri="{FF2B5EF4-FFF2-40B4-BE49-F238E27FC236}">
                <a16:creationId xmlns:a16="http://schemas.microsoft.com/office/drawing/2014/main" id="{B26FF5CD-1DE5-4470-B1C7-71641FC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copy-22">
            <a:extLst xmlns:a="http://schemas.openxmlformats.org/drawingml/2006/main">
              <a:ext uri="{FF2B5EF4-FFF2-40B4-BE49-F238E27FC236}">
                <a16:creationId xmlns:a16="http://schemas.microsoft.com/office/drawing/2014/main" id="{A2B136EF-F566-4EB5-A80F-2A7093EF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956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결제 전 불확실성</a:t>
            </a:r>
          </a:p>
        </p:txBody>
      </p:sp>
      <p:sp>
        <p:nvSpPr>
          <p:cNvPr id="16" name="copy-23">
            <a:extLst xmlns:a="http://schemas.openxmlformats.org/drawingml/2006/main">
              <a:ext uri="{FF2B5EF4-FFF2-40B4-BE49-F238E27FC236}">
                <a16:creationId xmlns:a16="http://schemas.microsoft.com/office/drawing/2014/main" id="{AD344E57-284E-4736-9494-12F961D7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총액·납기·수정 범위를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합의한 뒤 결제를 안내한다.</a:t>
            </a:r>
          </a:p>
        </p:txBody>
      </p:sp>
      <p:sp>
        <p:nvSpPr>
          <p:cNvPr id="17" name="copy-24">
            <a:extLst xmlns:a="http://schemas.openxmlformats.org/drawingml/2006/main">
              <a:ext uri="{FF2B5EF4-FFF2-40B4-BE49-F238E27FC236}">
                <a16:creationId xmlns:a16="http://schemas.microsoft.com/office/drawing/2014/main" id="{D1C0D1DF-9C05-4D66-979B-2268B851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증거: 범위 동의·결제 확인</a:t>
            </a:r>
          </a:p>
        </p:txBody>
      </p:sp>
    </p:spTree>
    <p:extLst>
      <p:ext uri="{BB962C8B-B14F-4D97-AF65-F5344CB8AC3E}">
        <p14:creationId xmlns:p14="http://schemas.microsoft.com/office/powerpoint/2010/main" val="22616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py-25">
            <a:extLst xmlns:a="http://schemas.openxmlformats.org/drawingml/2006/main">
              <a:ext uri="{FF2B5EF4-FFF2-40B4-BE49-F238E27FC236}">
                <a16:creationId xmlns:a16="http://schemas.microsoft.com/office/drawing/2014/main" id="{12625672-C9F4-4006-83CB-631A2FCA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02  /  MEASUREMENT</a:t>
            </a:r>
          </a:p>
        </p:txBody>
      </p:sp>
      <p:sp>
        <p:nvSpPr>
          <p:cNvPr id="2" name="copy-26">
            <a:extLst xmlns:a="http://schemas.openxmlformats.org/drawingml/2006/main">
              <a:ext uri="{FF2B5EF4-FFF2-40B4-BE49-F238E27FC236}">
                <a16:creationId xmlns:a16="http://schemas.microsoft.com/office/drawing/2014/main" id="{BC34C676-A2E9-47BB-BCBB-28BE7C43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27">
            <a:extLst xmlns:a="http://schemas.openxmlformats.org/drawingml/2006/main">
              <a:ext uri="{FF2B5EF4-FFF2-40B4-BE49-F238E27FC236}">
                <a16:creationId xmlns:a16="http://schemas.microsoft.com/office/drawing/2014/main" id="{C0966907-8243-451A-81F4-72D4C0BA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28">
            <a:extLst xmlns:a="http://schemas.openxmlformats.org/drawingml/2006/main">
              <a:ext uri="{FF2B5EF4-FFF2-40B4-BE49-F238E27FC236}">
                <a16:creationId xmlns:a16="http://schemas.microsoft.com/office/drawing/2014/main" id="{212A2149-DD35-47EA-9200-F77996ED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copy-29">
            <a:extLst xmlns:a="http://schemas.openxmlformats.org/drawingml/2006/main">
              <a:ext uri="{FF2B5EF4-FFF2-40B4-BE49-F238E27FC236}">
                <a16:creationId xmlns:a16="http://schemas.microsoft.com/office/drawing/2014/main" id="{48DD18A9-3CCA-4157-BA98-CBC271A6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전체 견적 대비 결제율을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주지표로 둔다</a:t>
            </a:r>
          </a:p>
        </p:txBody>
      </p:sp>
      <p:sp>
        <p:nvSpPr>
          <p:cNvPr id="6" name="copy-30">
            <a:extLst xmlns:a="http://schemas.openxmlformats.org/drawingml/2006/main">
              <a:ext uri="{FF2B5EF4-FFF2-40B4-BE49-F238E27FC236}">
                <a16:creationId xmlns:a16="http://schemas.microsoft.com/office/drawing/2014/main" id="{973AE8D9-AFE7-49D2-A793-7995804C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가상 계산 사례 · 실제 swan 실적 및 업계 평균 아님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28650" y="2828925"/>
          <a:ext xmlns:a="http://schemas.openxmlformats.org/drawingml/2006/main" cx="10906125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1714500"/>
                <a:gridCol w="2762250"/>
                <a:gridCol w="2571750"/>
              </a:tblGrid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건수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직전 단계 대비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견적 대비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발송 확인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읽음 관측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고객 문의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범위 동의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66.7%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결제 확인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50.0%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5.0%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8" name="copy-31">
            <a:extLst xmlns:a="http://schemas.openxmlformats.org/drawingml/2006/main">
              <a:ext uri="{FF2B5EF4-FFF2-40B4-BE49-F238E27FC236}">
                <a16:creationId xmlns:a16="http://schemas.microsoft.com/office/drawing/2014/main" id="{0BFC7C00-3F91-4B1C-85CB-A8CC42B4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같은 집단을 같은 기간 관찰한다.  단계별 순서를 모두 거친 가상 사례다.</a:t>
            </a:r>
          </a:p>
        </p:txBody>
      </p:sp>
    </p:spTree>
    <p:extLst>
      <p:ext uri="{BB962C8B-B14F-4D97-AF65-F5344CB8AC3E}">
        <p14:creationId xmlns:p14="http://schemas.microsoft.com/office/powerpoint/2010/main" val="2018762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py-32">
            <a:extLst xmlns:a="http://schemas.openxmlformats.org/drawingml/2006/main">
              <a:ext uri="{FF2B5EF4-FFF2-40B4-BE49-F238E27FC236}">
                <a16:creationId xmlns:a16="http://schemas.microsoft.com/office/drawing/2014/main" id="{17D9C865-B9E4-4F4E-8A67-6C52996D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03  /  INTERPRETATION</a:t>
            </a:r>
          </a:p>
        </p:txBody>
      </p:sp>
      <p:sp>
        <p:nvSpPr>
          <p:cNvPr id="2" name="copy-33">
            <a:extLst xmlns:a="http://schemas.openxmlformats.org/drawingml/2006/main">
              <a:ext uri="{FF2B5EF4-FFF2-40B4-BE49-F238E27FC236}">
                <a16:creationId xmlns:a16="http://schemas.microsoft.com/office/drawing/2014/main" id="{A112DFA0-54AD-49F8-BED6-13906C48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34">
            <a:extLst xmlns:a="http://schemas.openxmlformats.org/drawingml/2006/main">
              <a:ext uri="{FF2B5EF4-FFF2-40B4-BE49-F238E27FC236}">
                <a16:creationId xmlns:a16="http://schemas.microsoft.com/office/drawing/2014/main" id="{82F8F036-2530-42D9-AE36-AEEFAFC2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35">
            <a:extLst xmlns:a="http://schemas.openxmlformats.org/drawingml/2006/main">
              <a:ext uri="{FF2B5EF4-FFF2-40B4-BE49-F238E27FC236}">
                <a16:creationId xmlns:a16="http://schemas.microsoft.com/office/drawing/2014/main" id="{23130405-63C9-4668-838C-0AE813CF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copy-36">
            <a:extLst xmlns:a="http://schemas.openxmlformats.org/drawingml/2006/main">
              <a:ext uri="{FF2B5EF4-FFF2-40B4-BE49-F238E27FC236}">
                <a16:creationId xmlns:a16="http://schemas.microsoft.com/office/drawing/2014/main" id="{4FBD7178-1C54-420B-8313-284AEB5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낮은 전환율은 관찰 결과다.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원인을 단정하는 근거는 아니다.</a:t>
            </a:r>
          </a:p>
        </p:txBody>
      </p:sp>
      <p:sp>
        <p:nvSpPr>
          <p:cNvPr id="6" name="copy-37">
            <a:extLst xmlns:a="http://schemas.openxmlformats.org/drawingml/2006/main">
              <a:ext uri="{FF2B5EF4-FFF2-40B4-BE49-F238E27FC236}">
                <a16:creationId xmlns:a16="http://schemas.microsoft.com/office/drawing/2014/main" id="{A02C0028-EC4C-4120-B5D4-9664576B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481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측정할 것</a:t>
            </a:r>
          </a:p>
        </p:txBody>
      </p:sp>
      <p:sp>
        <p:nvSpPr>
          <p:cNvPr id="7" name="copy-38">
            <a:extLst xmlns:a="http://schemas.openxmlformats.org/drawingml/2006/main">
              <a:ext uri="{FF2B5EF4-FFF2-40B4-BE49-F238E27FC236}">
                <a16:creationId xmlns:a16="http://schemas.microsoft.com/office/drawing/2014/main" id="{C680F32E-D314-460A-8C6C-7A34975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고객·요청별 첫 견적을 기준으로 집계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시스템 알림과 실제 답장을 분리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결제 확인과 결제 의향을 구분</a:t>
            </a:r>
          </a:p>
        </p:txBody>
      </p:sp>
      <p:sp>
        <p:nvSpPr>
          <p:cNvPr id="8" name="copy-39">
            <a:extLst xmlns:a="http://schemas.openxmlformats.org/drawingml/2006/main">
              <a:ext uri="{FF2B5EF4-FFF2-40B4-BE49-F238E27FC236}">
                <a16:creationId xmlns:a16="http://schemas.microsoft.com/office/drawing/2014/main" id="{45DAAFCF-9B88-459F-BC55-3AEA1ECC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분리해 볼 것</a:t>
            </a:r>
          </a:p>
        </p:txBody>
      </p:sp>
      <p:sp>
        <p:nvSpPr>
          <p:cNvPr id="9" name="copy-40">
            <a:extLst xmlns:a="http://schemas.openxmlformats.org/drawingml/2006/main">
              <a:ext uri="{FF2B5EF4-FFF2-40B4-BE49-F238E27FC236}">
                <a16:creationId xmlns:a16="http://schemas.microsoft.com/office/drawing/2014/main" id="{1BDF710F-F068-4053-A509-227FFE6D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81425"/>
            <a:ext cx="5000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읽음 미관측 ≠ 미열람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관찰 기간 미경과 ≠ 미결제 확정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결제액 ≠ 비용을 뺀 순이익</a:t>
            </a:r>
          </a:p>
        </p:txBody>
      </p:sp>
      <p:sp>
        <p:nvSpPr>
          <p:cNvPr id="10" name="copy-41">
            <a:extLst xmlns:a="http://schemas.openxmlformats.org/drawingml/2006/main">
              <a:ext uri="{FF2B5EF4-FFF2-40B4-BE49-F238E27FC236}">
                <a16:creationId xmlns:a16="http://schemas.microsoft.com/office/drawing/2014/main" id="{57863844-5A3C-473C-81F3-08E08BDB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문의 누락과 기록 오류를 먼저 확인한 뒤, 고객 대화로 원인 가설을 좁힌다.</a:t>
            </a:r>
          </a:p>
        </p:txBody>
      </p:sp>
    </p:spTree>
    <p:extLst>
      <p:ext uri="{BB962C8B-B14F-4D97-AF65-F5344CB8AC3E}">
        <p14:creationId xmlns:p14="http://schemas.microsoft.com/office/powerpoint/2010/main" val="1700910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py-42">
            <a:extLst xmlns:a="http://schemas.openxmlformats.org/drawingml/2006/main">
              <a:ext uri="{FF2B5EF4-FFF2-40B4-BE49-F238E27FC236}">
                <a16:creationId xmlns:a16="http://schemas.microsoft.com/office/drawing/2014/main" id="{F0FE06FA-AD1A-44B6-8797-DE9CEEB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04  /  CUSTOMER RESPONSE</a:t>
            </a:r>
          </a:p>
        </p:txBody>
      </p:sp>
      <p:sp>
        <p:nvSpPr>
          <p:cNvPr id="2" name="copy-43">
            <a:extLst xmlns:a="http://schemas.openxmlformats.org/drawingml/2006/main">
              <a:ext uri="{FF2B5EF4-FFF2-40B4-BE49-F238E27FC236}">
                <a16:creationId xmlns:a16="http://schemas.microsoft.com/office/drawing/2014/main" id="{5D7407F0-4B20-4EDF-B620-FE0D2C20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44">
            <a:extLst xmlns:a="http://schemas.openxmlformats.org/drawingml/2006/main">
              <a:ext uri="{FF2B5EF4-FFF2-40B4-BE49-F238E27FC236}">
                <a16:creationId xmlns:a16="http://schemas.microsoft.com/office/drawing/2014/main" id="{E1BA3BFB-7954-4063-98D8-C7E6264C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45">
            <a:extLst xmlns:a="http://schemas.openxmlformats.org/drawingml/2006/main">
              <a:ext uri="{FF2B5EF4-FFF2-40B4-BE49-F238E27FC236}">
                <a16:creationId xmlns:a16="http://schemas.microsoft.com/office/drawing/2014/main" id="{7A9C798E-3A36-4E24-8791-803CFEE5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copy-46">
            <a:extLst xmlns:a="http://schemas.openxmlformats.org/drawingml/2006/main">
              <a:ext uri="{FF2B5EF4-FFF2-40B4-BE49-F238E27FC236}">
                <a16:creationId xmlns:a16="http://schemas.microsoft.com/office/drawing/2014/main" id="{A2AF064E-3E74-454F-83B6-81BA7B18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고객이 묻는 일정부터 답한다</a:t>
            </a:r>
          </a:p>
        </p:txBody>
      </p:sp>
      <p:sp>
        <p:nvSpPr>
          <p:cNvPr id="6" name="copy-47">
            <a:extLst xmlns:a="http://schemas.openxmlformats.org/drawingml/2006/main">
              <a:ext uri="{FF2B5EF4-FFF2-40B4-BE49-F238E27FC236}">
                <a16:creationId xmlns:a16="http://schemas.microsoft.com/office/drawing/2014/main" id="{59722C18-C2A3-4120-BC0F-3816843D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원본을 받기 전 · 응대 예시</a:t>
            </a:r>
          </a:p>
        </p:txBody>
      </p:sp>
      <p:sp>
        <p:nvSpPr>
          <p:cNvPr id="7" name="copy-48">
            <a:extLst xmlns:a="http://schemas.openxmlformats.org/drawingml/2006/main">
              <a:ext uri="{FF2B5EF4-FFF2-40B4-BE49-F238E27FC236}">
                <a16:creationId xmlns:a16="http://schemas.microsoft.com/office/drawing/2014/main" id="{65028C56-E57F-45A7-A095-85D89B96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10858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“원본 분량을 아직 못 봐서 완료 시각은</a:t>
            </a:r>
          </a:p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파일을 확인한 뒤 말씀드릴게요.</a:t>
            </a:r>
          </a:p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보고서와 필요한 슬라이드 수, 발표 시간을 보내주시면</a:t>
            </a:r>
          </a:p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가능한 일정부터 먼저 확인하겠습니다.”</a:t>
            </a:r>
          </a:p>
        </p:txBody>
      </p:sp>
      <p:sp>
        <p:nvSpPr>
          <p:cNvPr id="8" name="copy-49">
            <a:extLst xmlns:a="http://schemas.openxmlformats.org/drawingml/2006/main">
              <a:ext uri="{FF2B5EF4-FFF2-40B4-BE49-F238E27FC236}">
                <a16:creationId xmlns:a16="http://schemas.microsoft.com/office/drawing/2014/main" id="{C3E2B6BA-2BAF-4423-A233-F6F8B976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이미 가능한 일정을 확인했다면 그 일정을 첫 문장에 제시한다.</a:t>
            </a:r>
          </a:p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받은 자료를 다시 요청하거나, 확인하지 않은 당일 납품을 약속하지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648786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py-50">
            <a:extLst xmlns:a="http://schemas.openxmlformats.org/drawingml/2006/main">
              <a:ext uri="{FF2B5EF4-FFF2-40B4-BE49-F238E27FC236}">
                <a16:creationId xmlns:a16="http://schemas.microsoft.com/office/drawing/2014/main" id="{573ABFB5-1F7A-47D8-82E8-FF101682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05  /  EXPERIMENT</a:t>
            </a:r>
          </a:p>
        </p:txBody>
      </p:sp>
      <p:sp>
        <p:nvSpPr>
          <p:cNvPr id="2" name="copy-51">
            <a:extLst xmlns:a="http://schemas.openxmlformats.org/drawingml/2006/main">
              <a:ext uri="{FF2B5EF4-FFF2-40B4-BE49-F238E27FC236}">
                <a16:creationId xmlns:a16="http://schemas.microsoft.com/office/drawing/2014/main" id="{F522C6BA-DF9F-4BD3-828E-D12C959A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52">
            <a:extLst xmlns:a="http://schemas.openxmlformats.org/drawingml/2006/main">
              <a:ext uri="{FF2B5EF4-FFF2-40B4-BE49-F238E27FC236}">
                <a16:creationId xmlns:a16="http://schemas.microsoft.com/office/drawing/2014/main" id="{9FFEE0C5-F712-42C1-9886-2B5D940B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53">
            <a:extLst xmlns:a="http://schemas.openxmlformats.org/drawingml/2006/main">
              <a:ext uri="{FF2B5EF4-FFF2-40B4-BE49-F238E27FC236}">
                <a16:creationId xmlns:a16="http://schemas.microsoft.com/office/drawing/2014/main" id="{E1A0583E-8821-4A10-9825-9A395E08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copy-54">
            <a:extLst xmlns:a="http://schemas.openxmlformats.org/drawingml/2006/main">
              <a:ext uri="{FF2B5EF4-FFF2-40B4-BE49-F238E27FC236}">
                <a16:creationId xmlns:a16="http://schemas.microsoft.com/office/drawing/2014/main" id="{643269B0-B1D0-455A-B0FF-E4CAADE5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샘플 제공의 효과는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한 변수만 바꿔 비교한다</a:t>
            </a:r>
          </a:p>
        </p:txBody>
      </p:sp>
      <p:sp>
        <p:nvSpPr>
          <p:cNvPr id="6" name="copy-55">
            <a:extLst xmlns:a="http://schemas.openxmlformats.org/drawingml/2006/main">
              <a:ext uri="{FF2B5EF4-FFF2-40B4-BE49-F238E27FC236}">
                <a16:creationId xmlns:a16="http://schemas.microsoft.com/office/drawing/2014/main" id="{E7E0F50F-DC72-4D87-8D33-31F139F7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7" name="copy-56">
            <a:extLst xmlns:a="http://schemas.openxmlformats.org/drawingml/2006/main">
              <a:ext uri="{FF2B5EF4-FFF2-40B4-BE49-F238E27FC236}">
                <a16:creationId xmlns:a16="http://schemas.microsoft.com/office/drawing/2014/main" id="{527B6810-0C71-40DC-8A9F-39256F9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기존 견적</a:t>
            </a:r>
          </a:p>
        </p:txBody>
      </p:sp>
      <p:sp>
        <p:nvSpPr>
          <p:cNvPr id="8" name="copy-57">
            <a:extLst xmlns:a="http://schemas.openxmlformats.org/drawingml/2006/main">
              <a:ext uri="{FF2B5EF4-FFF2-40B4-BE49-F238E27FC236}">
                <a16:creationId xmlns:a16="http://schemas.microsoft.com/office/drawing/2014/main" id="{F2C4DABB-4993-4650-91D3-8BDE4EEC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9" name="copy-58">
            <a:extLst xmlns:a="http://schemas.openxmlformats.org/drawingml/2006/main">
              <a:ext uri="{FF2B5EF4-FFF2-40B4-BE49-F238E27FC236}">
                <a16:creationId xmlns:a16="http://schemas.microsoft.com/office/drawing/2014/main" id="{2612A3ED-47CA-4998-9B00-AF2AF7B7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같은 견적 + 관련 샘플 1개</a:t>
            </a:r>
          </a:p>
        </p:txBody>
      </p:sp>
      <p:sp>
        <p:nvSpPr>
          <p:cNvPr id="10" name="copy-59">
            <a:extLst xmlns:a="http://schemas.openxmlformats.org/drawingml/2006/main">
              <a:ext uri="{FF2B5EF4-FFF2-40B4-BE49-F238E27FC236}">
                <a16:creationId xmlns:a16="http://schemas.microsoft.com/office/drawing/2014/main" id="{8E656A2B-E0A0-42BC-ADD8-3D0FEFD5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같은 서비스 안에서 고객 단위 무작위 배정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가격·범위·후속 연락 정책은 동일하게 유지</a:t>
            </a:r>
          </a:p>
        </p:txBody>
      </p:sp>
      <p:sp>
        <p:nvSpPr>
          <p:cNvPr id="11" name="copy-60">
            <a:extLst xmlns:a="http://schemas.openxmlformats.org/drawingml/2006/main">
              <a:ext uri="{FF2B5EF4-FFF2-40B4-BE49-F238E27FC236}">
                <a16:creationId xmlns:a16="http://schemas.microsoft.com/office/drawing/2014/main" id="{0CC01EFB-B941-4F19-AC5E-92ECDB8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주지표: 견적 발송 후 7일 이내 결제 확인 비율</a:t>
            </a:r>
          </a:p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7일은 이 샘플의 제안이다. 표본수·종료 기준은 실험 전에 별도로 확정한다.</a:t>
            </a:r>
          </a:p>
        </p:txBody>
      </p:sp>
    </p:spTree>
    <p:extLst>
      <p:ext uri="{BB962C8B-B14F-4D97-AF65-F5344CB8AC3E}">
        <p14:creationId xmlns:p14="http://schemas.microsoft.com/office/powerpoint/2010/main" val="97928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py-61">
            <a:extLst xmlns:a="http://schemas.openxmlformats.org/drawingml/2006/main">
              <a:ext uri="{FF2B5EF4-FFF2-40B4-BE49-F238E27FC236}">
                <a16:creationId xmlns:a16="http://schemas.microsoft.com/office/drawing/2014/main" id="{C908D639-45B5-4DEA-8E4D-01CCEAE6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06  /  EXECUTION</a:t>
            </a:r>
          </a:p>
        </p:txBody>
      </p:sp>
      <p:sp>
        <p:nvSpPr>
          <p:cNvPr id="2" name="copy-62">
            <a:extLst xmlns:a="http://schemas.openxmlformats.org/drawingml/2006/main">
              <a:ext uri="{FF2B5EF4-FFF2-40B4-BE49-F238E27FC236}">
                <a16:creationId xmlns:a16="http://schemas.microsoft.com/office/drawing/2014/main" id="{CFF9941F-0DA3-4D79-A376-6C5844C9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63">
            <a:extLst xmlns:a="http://schemas.openxmlformats.org/drawingml/2006/main">
              <a:ext uri="{FF2B5EF4-FFF2-40B4-BE49-F238E27FC236}">
                <a16:creationId xmlns:a16="http://schemas.microsoft.com/office/drawing/2014/main" id="{34EEA148-7DB8-4C2B-A979-1CCDB15D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64">
            <a:extLst xmlns:a="http://schemas.openxmlformats.org/drawingml/2006/main">
              <a:ext uri="{FF2B5EF4-FFF2-40B4-BE49-F238E27FC236}">
                <a16:creationId xmlns:a16="http://schemas.microsoft.com/office/drawing/2014/main" id="{3E670039-A879-47F3-A5C9-D8BFF534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copy-65">
            <a:extLst xmlns:a="http://schemas.openxmlformats.org/drawingml/2006/main">
              <a:ext uri="{FF2B5EF4-FFF2-40B4-BE49-F238E27FC236}">
                <a16:creationId xmlns:a16="http://schemas.microsoft.com/office/drawing/2014/main" id="{7CE7F14C-09E1-4CD1-9B69-1423691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09675"/>
            <a:ext cx="1104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샘플은 약속을 보여주고,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검수는 그 약속을 지킨다.</a:t>
            </a:r>
          </a:p>
        </p:txBody>
      </p:sp>
      <p:sp>
        <p:nvSpPr>
          <p:cNvPr id="6" name="copy-66">
            <a:extLst xmlns:a="http://schemas.openxmlformats.org/drawingml/2006/main">
              <a:ext uri="{FF2B5EF4-FFF2-40B4-BE49-F238E27FC236}">
                <a16:creationId xmlns:a16="http://schemas.microsoft.com/office/drawing/2014/main" id="{9B0DB857-3FE7-46BF-80C1-2AC44E80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86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</a:t>
            </a:r>
          </a:p>
        </p:txBody>
      </p:sp>
      <p:sp>
        <p:nvSpPr>
          <p:cNvPr id="7" name="copy-67">
            <a:extLst xmlns:a="http://schemas.openxmlformats.org/drawingml/2006/main">
              <a:ext uri="{FF2B5EF4-FFF2-40B4-BE49-F238E27FC236}">
                <a16:creationId xmlns:a16="http://schemas.microsoft.com/office/drawing/2014/main" id="{14FD6BB4-A694-4969-8928-062A35EC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8610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미답변·중복·실패 발송 점검</a:t>
            </a:r>
          </a:p>
        </p:txBody>
      </p:sp>
      <p:sp>
        <p:nvSpPr>
          <p:cNvPr id="8" name="copy-68">
            <a:extLst xmlns:a="http://schemas.openxmlformats.org/drawingml/2006/main">
              <a:ext uri="{FF2B5EF4-FFF2-40B4-BE49-F238E27FC236}">
                <a16:creationId xmlns:a16="http://schemas.microsoft.com/office/drawing/2014/main" id="{A694B40F-7E05-438C-A8F7-65FBAA02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제작</a:t>
            </a:r>
          </a:p>
        </p:txBody>
      </p:sp>
      <p:sp>
        <p:nvSpPr>
          <p:cNvPr id="9" name="copy-69">
            <a:extLst xmlns:a="http://schemas.openxmlformats.org/drawingml/2006/main">
              <a:ext uri="{FF2B5EF4-FFF2-40B4-BE49-F238E27FC236}">
                <a16:creationId xmlns:a16="http://schemas.microsoft.com/office/drawing/2014/main" id="{EEF92864-95C9-47FF-B68B-E589EE6A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1475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샘플과 실제 제공 범위의 일치 확인</a:t>
            </a:r>
          </a:p>
        </p:txBody>
      </p:sp>
      <p:sp>
        <p:nvSpPr>
          <p:cNvPr id="10" name="copy-70">
            <a:extLst xmlns:a="http://schemas.openxmlformats.org/drawingml/2006/main">
              <a:ext uri="{FF2B5EF4-FFF2-40B4-BE49-F238E27FC236}">
                <a16:creationId xmlns:a16="http://schemas.microsoft.com/office/drawing/2014/main" id="{1F3AA5F3-E150-4923-92DB-2935ECF5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434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copy-71">
            <a:extLst xmlns:a="http://schemas.openxmlformats.org/drawingml/2006/main">
              <a:ext uri="{FF2B5EF4-FFF2-40B4-BE49-F238E27FC236}">
                <a16:creationId xmlns:a16="http://schemas.microsoft.com/office/drawing/2014/main" id="{174D89BB-BF44-4C28-958C-07460E30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4340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내용·파일 열림·전 페이지 시각 확인</a:t>
            </a:r>
          </a:p>
        </p:txBody>
      </p:sp>
      <p:sp>
        <p:nvSpPr>
          <p:cNvPr id="12" name="copy-72">
            <a:extLst xmlns:a="http://schemas.openxmlformats.org/drawingml/2006/main">
              <a:ext uri="{FF2B5EF4-FFF2-40B4-BE49-F238E27FC236}">
                <a16:creationId xmlns:a16="http://schemas.microsoft.com/office/drawing/2014/main" id="{A20BE2C5-44B9-4C9A-8138-34D4F584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72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책임자</a:t>
            </a:r>
          </a:p>
        </p:txBody>
      </p:sp>
      <p:sp>
        <p:nvSpPr>
          <p:cNvPr id="13" name="copy-73">
            <a:extLst xmlns:a="http://schemas.openxmlformats.org/drawingml/2006/main">
              <a:ext uri="{FF2B5EF4-FFF2-40B4-BE49-F238E27FC236}">
                <a16:creationId xmlns:a16="http://schemas.microsoft.com/office/drawing/2014/main" id="{2981C00C-34BD-4A0C-AE2E-54155662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성숙 표본과 비용을 보고 다음 변경 1개 결정</a:t>
            </a:r>
          </a:p>
        </p:txBody>
      </p:sp>
      <p:sp>
        <p:nvSpPr>
          <p:cNvPr id="14" name="copy-74">
            <a:extLst xmlns:a="http://schemas.openxmlformats.org/drawingml/2006/main">
              <a:ext uri="{FF2B5EF4-FFF2-40B4-BE49-F238E27FC236}">
                <a16:creationId xmlns:a16="http://schemas.microsoft.com/office/drawing/2014/main" id="{2BBE4E69-ED6B-4AA4-A2D3-6AD00EEF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잘못된 금액·깨진 링크·응대 누락이 나오면 해당 자동 안내를 중단한다.</a:t>
            </a:r>
          </a:p>
        </p:txBody>
      </p:sp>
    </p:spTree>
    <p:extLst>
      <p:ext uri="{BB962C8B-B14F-4D97-AF65-F5344CB8AC3E}">
        <p14:creationId xmlns:p14="http://schemas.microsoft.com/office/powerpoint/2010/main" val="903989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2026-09-23T12:48:39.5720000Z</dcterms:created>
  <dcterms:modified xsi:type="dcterms:W3CDTF">2026-09-23T12:48:39.5720000Z</dcterms:modified>
</coreProperties>
</file>