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월별 누락(건)</c:v>
                </c:pt>
              </c:strCache>
            </c:strRef>
          </c:tx>
          <c:spPr>
            <a:solidFill>
              <a:srgbClr val="1F3A5F"/>
            </a:solidFill>
            <a:ln w="31750" cap="flat">
              <a:solidFill>
                <a:srgbClr val="1F3A5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22222"/>
                    </a:solidFill>
                    <a:latin typeface="Pretendard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1F3A5F"/>
              </a:solidFill>
              <a:ln w="9525" cap="flat">
                <a:solidFill>
                  <a:srgbClr val="1F3A5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1월</c:v>
                  </c:pt>
                  <c:pt idx="1">
                    <c:v>2월</c:v>
                  </c:pt>
                  <c:pt idx="2">
                    <c:v>3월</c:v>
                  </c:pt>
                  <c:pt idx="3">
                    <c:v>4월</c:v>
                  </c:pt>
                  <c:pt idx="4">
                    <c:v>5월</c:v>
                  </c:pt>
                  <c:pt idx="5">
                    <c:v>6월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24</c:v>
                </c:pt>
                <c:pt idx="1">
                  <c:v>20</c:v>
                </c:pt>
                <c:pt idx="2">
                  <c:v>14</c:v>
                </c:pt>
                <c:pt idx="3">
                  <c:v>12</c:v>
                </c:pt>
                <c:pt idx="4">
                  <c:v>11</c:v>
                </c:pt>
                <c:pt idx="5">
                  <c:v>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22222"/>
                  </a:solidFill>
                  <a:latin typeface="Pretendard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9D9D9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F"/>
                </a:solidFill>
                <a:latin typeface="Pretendard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1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4003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75336" y="2331720"/>
            <a:ext cx="1024102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경로당 안부 확인 시범사업 결과 보고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975336" y="3703320"/>
            <a:ext cx="10241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5B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2026년 상반기 · 경로당 12곳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975336" y="5623560"/>
            <a:ext cx="10241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한빛시 복지정책과 노인복지팀  ·  2026.09.22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62941" y="6515100"/>
            <a:ext cx="12923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 / 12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36435" y="651510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예시 자료 · 가상의 기관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36435" y="541782"/>
            <a:ext cx="1111882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목차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975336" y="1783080"/>
            <a:ext cx="85341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F3A5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950671" y="1783080"/>
            <a:ext cx="9265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추진 배경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975336" y="2400300"/>
            <a:ext cx="85341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F3A5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950671" y="2400300"/>
            <a:ext cx="9265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 결과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975336" y="3017520"/>
            <a:ext cx="85341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F3A5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950671" y="3017520"/>
            <a:ext cx="9265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확대 계획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62941" y="6515100"/>
            <a:ext cx="12923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 / 12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36435" y="651510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예시 자료 · 가상의 기관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36435" y="20574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추진 배경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975336" y="2057400"/>
            <a:ext cx="243833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1F3A5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975336" y="3566160"/>
            <a:ext cx="102410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추진 배경</a:t>
            </a:r>
            <a:endParaRPr lang="en-US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62941" y="6515100"/>
            <a:ext cx="12923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 / 12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36435" y="651510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예시 자료 · 가상의 기관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36435" y="20574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추진 배경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36435" y="541782"/>
            <a:ext cx="1111882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담당자 1명이 어르신 120명을 전화로 확인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36435" y="1645920"/>
            <a:ext cx="7071183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 1회 전화 확인, 미연결 시 다음 주로 연기</a:t>
            </a:r>
            <a:endParaRPr lang="en-US" sz="1600" dirty="0"/>
          </a:p>
          <a:p>
            <a:pPr marL="203200" indent="-2032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휴가·병가 기간 대체 인력 부재</a:t>
            </a:r>
            <a:endParaRPr lang="en-US" sz="1600" dirty="0"/>
          </a:p>
          <a:p>
            <a:pPr marL="203200" indent="-2032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누락 사실을 사후에야 파악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168436" y="1645920"/>
            <a:ext cx="3486825" cy="2743200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412270" y="1851660"/>
            <a:ext cx="299915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2025년 월평균 누락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412270" y="2263140"/>
            <a:ext cx="299915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C810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25건</a:t>
            </a:r>
            <a:endParaRPr lang="en-US" sz="4800" dirty="0"/>
          </a:p>
        </p:txBody>
      </p:sp>
      <p:sp>
        <p:nvSpPr>
          <p:cNvPr id="10" name="Text 8"/>
          <p:cNvSpPr txBox="1"/>
          <p:nvPr/>
        </p:nvSpPr>
        <p:spPr>
          <a:xfrm>
            <a:off x="8412270" y="3223260"/>
            <a:ext cx="2999157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안부 확인이 2주 이상 빠진 경우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62941" y="6515100"/>
            <a:ext cx="12923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 / 12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36435" y="651510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예시 자료 · 가상의 기관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36435" y="20574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추진 배경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36435" y="541782"/>
            <a:ext cx="1111882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확인 방식을 출석 기록으로 전환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36435" y="1645920"/>
            <a:ext cx="536434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F3A5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이전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36435" y="2125980"/>
            <a:ext cx="5364346" cy="27432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6435" y="2331720"/>
            <a:ext cx="5364346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담당자가 주 1회 전화</a:t>
            </a:r>
            <a:endParaRPr lang="en-US" sz="1600" dirty="0"/>
          </a:p>
          <a:p>
            <a:pPr marL="203200" indent="-2032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결과는 개인 수첩에 기록</a:t>
            </a:r>
            <a:endParaRPr lang="en-US" sz="1600" dirty="0"/>
          </a:p>
          <a:p>
            <a:pPr marL="203200" indent="-2032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누락 여부 확인 불가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290915" y="1645920"/>
            <a:ext cx="536434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F3A5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시범사업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290915" y="2125980"/>
            <a:ext cx="5364346" cy="27432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290915" y="2331720"/>
            <a:ext cx="5364346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경로당 출석을 태블릿으로 기록</a:t>
            </a:r>
            <a:endParaRPr lang="en-US" sz="1600" dirty="0"/>
          </a:p>
          <a:p>
            <a:pPr marL="203200" indent="-2032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3일 연속 결석 시 담당자 알림</a:t>
            </a:r>
            <a:endParaRPr lang="en-US" sz="1600" dirty="0"/>
          </a:p>
          <a:p>
            <a:pPr marL="203200" indent="-2032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주간 현황표 자동 작성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62941" y="6515100"/>
            <a:ext cx="12923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 / 12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36435" y="651510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예시 자료 · 가상의 기관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36435" y="20574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 결과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975336" y="2057400"/>
            <a:ext cx="243833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1F3A5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975336" y="3566160"/>
            <a:ext cx="102410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 결과</a:t>
            </a:r>
            <a:endParaRPr lang="en-US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62941" y="6515100"/>
            <a:ext cx="12923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 / 12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36435" y="651510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예시 자료 · 가상의 기관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36435" y="20574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 결과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36435" y="541782"/>
            <a:ext cx="1111882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12곳 모두 누락 감소, 도심권 효과 최대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6435" y="1645920"/>
          <a:ext cx="11118826" cy="914400"/>
        </p:xfrm>
        <a:graphic>
          <a:graphicData uri="http://schemas.openxmlformats.org/drawingml/2006/table">
            <a:tbl>
              <a:tblPr/>
              <a:tblGrid>
                <a:gridCol w="2668518"/>
                <a:gridCol w="2112577"/>
                <a:gridCol w="2112577"/>
                <a:gridCol w="2112577"/>
                <a:gridCol w="2112577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구분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경로당(곳)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등록 인원(명)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월평균 누락(건)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감소율(%)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3A5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도심권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214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60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외곽권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168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47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농촌권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104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40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합계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12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486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12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C8102E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52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36435" y="3813048"/>
            <a:ext cx="111188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자료: 한빛시 노인복지팀 내부 집계(2026.01~2026.06), 예시 수치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62941" y="6515100"/>
            <a:ext cx="12923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 / 12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36435" y="651510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예시 자료 · 가상의 기관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36435" y="20574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 결과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36435" y="541782"/>
            <a:ext cx="1111882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시범 3개월 차부터 누락 뚜렷이 감소</a:t>
            </a:r>
            <a:endParaRPr lang="en-US" sz="28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36435" y="1645920"/>
          <a:ext cx="7315017" cy="39090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36435" y="5623560"/>
            <a:ext cx="731501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자료: 한빛시 노인복지팀 내부 집계(2026.01~2026.06), 예시 수치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8168436" y="1783080"/>
            <a:ext cx="348682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C810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9건</a:t>
            </a:r>
            <a:endParaRPr lang="en-US" sz="4800" dirty="0"/>
          </a:p>
        </p:txBody>
      </p:sp>
      <p:sp>
        <p:nvSpPr>
          <p:cNvPr id="9" name="Text 6"/>
          <p:cNvSpPr txBox="1"/>
          <p:nvPr/>
        </p:nvSpPr>
        <p:spPr>
          <a:xfrm>
            <a:off x="8168436" y="2743200"/>
            <a:ext cx="3486825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6월 누락 건수</a:t>
            </a: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시작 전(월 25건)의 약 3분의 1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62941" y="6515100"/>
            <a:ext cx="12923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 / 12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36435" y="651510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예시 자료 · 가상의 기관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36435" y="20574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확대 계획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975336" y="2057400"/>
            <a:ext cx="243833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1F3A5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975336" y="3566160"/>
            <a:ext cx="102410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확대 계획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62941" y="6515100"/>
            <a:ext cx="12923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 / 12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36435" y="651510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예시 자료 · 가상의 기관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36435" y="20574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확대 계획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36435" y="541782"/>
            <a:ext cx="1111882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24곳 확대 시 등록 인원 1,000명 돌파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36435" y="2057400"/>
            <a:ext cx="3535592" cy="3154680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80268" y="2400300"/>
            <a:ext cx="3047924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1F3A5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24곳</a:t>
            </a:r>
            <a:endParaRPr lang="en-US" sz="4800" dirty="0"/>
          </a:p>
        </p:txBody>
      </p:sp>
      <p:sp>
        <p:nvSpPr>
          <p:cNvPr id="8" name="Text 6"/>
          <p:cNvSpPr txBox="1"/>
          <p:nvPr/>
        </p:nvSpPr>
        <p:spPr>
          <a:xfrm>
            <a:off x="780268" y="3497580"/>
            <a:ext cx="30479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대상 경로당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80268" y="4320540"/>
            <a:ext cx="30479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시범 12곳 대비 ▲ 12곳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28052" y="2057400"/>
            <a:ext cx="3535592" cy="3154680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1886" y="2400300"/>
            <a:ext cx="3047924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1F3A5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1,020명</a:t>
            </a:r>
            <a:endParaRPr lang="en-US" sz="4800" dirty="0"/>
          </a:p>
        </p:txBody>
      </p:sp>
      <p:sp>
        <p:nvSpPr>
          <p:cNvPr id="12" name="Text 10"/>
          <p:cNvSpPr txBox="1"/>
          <p:nvPr/>
        </p:nvSpPr>
        <p:spPr>
          <a:xfrm>
            <a:off x="4571886" y="3497580"/>
            <a:ext cx="30479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등록 예상 인원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571886" y="4320540"/>
            <a:ext cx="30479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시범 486명 대비 ▲ 534명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119669" y="2057400"/>
            <a:ext cx="3535592" cy="3154680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363503" y="2400300"/>
            <a:ext cx="3047924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C810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1.8억원</a:t>
            </a:r>
            <a:endParaRPr lang="en-US" sz="4800" dirty="0"/>
          </a:p>
        </p:txBody>
      </p:sp>
      <p:sp>
        <p:nvSpPr>
          <p:cNvPr id="16" name="Text 14"/>
          <p:cNvSpPr txBox="1"/>
          <p:nvPr/>
        </p:nvSpPr>
        <p:spPr>
          <a:xfrm>
            <a:off x="8363503" y="3497580"/>
            <a:ext cx="30479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필요 예산(하반기)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363503" y="4320540"/>
            <a:ext cx="30479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태블릿·통신비·운영 인력 포함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62941" y="6515100"/>
            <a:ext cx="12923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 / 12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36435" y="651510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예시 자료 · 가상의 기관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36435" y="20574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요약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36435" y="541782"/>
            <a:ext cx="1111882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누락 52% 감소, 하반기 24곳 확대 필요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36435" y="1783080"/>
            <a:ext cx="4876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F3A5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146019" y="1783080"/>
            <a:ext cx="97533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안부 확인 누락 52% 감소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146019" y="2228850"/>
            <a:ext cx="97533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 25건 → 12건(2026.01~2026.06)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36435" y="2811780"/>
            <a:ext cx="4876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F3A5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146019" y="2811780"/>
            <a:ext cx="97533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참여 경로당 12곳 모두 효과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146019" y="3257550"/>
            <a:ext cx="97533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도심권 60%, 농촌권 40% 감소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36435" y="3840480"/>
            <a:ext cx="4876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F3A5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146019" y="3840480"/>
            <a:ext cx="97533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확대 예산 1.8억원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146019" y="4286250"/>
            <a:ext cx="97533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경로당 24곳, 등록 인원 1,020명 기준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36435" y="5074920"/>
            <a:ext cx="11118826" cy="0"/>
          </a:xfrm>
          <a:prstGeom prst="line">
            <a:avLst/>
          </a:prstGeom>
          <a:noFill/>
          <a:ln w="9525">
            <a:solidFill>
              <a:srgbClr val="1F3A5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36435" y="5212080"/>
            <a:ext cx="36575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F3A5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단계·요청 사항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36435" y="5554980"/>
            <a:ext cx="1111882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하반기 24곳 확대 및 예산 1.8억원 편성 승인 요청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4003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362941" y="6515100"/>
            <a:ext cx="12923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 / 12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36435" y="651510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예시 자료 · 가상의 기관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36435" y="20574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맺음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36435" y="541782"/>
            <a:ext cx="1111882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승인 시 10월부터 순차 시작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975336" y="2743200"/>
            <a:ext cx="102410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9월 말 확대 결정   →   10월 장비 설치   →   11월 운영 시작   →   12월 1차 보고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975336" y="3840480"/>
            <a:ext cx="10241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F3A5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문의 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노인복지팀 주무관 김○○ · 031-000-0000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etendar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경로당 안부 확인 시범사업 결과 보고</dc:title>
  <dc:subject>PptxGenJS Presentation</dc:subject>
  <dc:creator>Swan</dc:creator>
  <cp:lastModifiedBy>Swan</cp:lastModifiedBy>
  <cp:revision>1</cp:revision>
  <dcterms:created xsi:type="dcterms:W3CDTF">2026-09-22T03:51:40Z</dcterms:created>
  <dcterms:modified xsi:type="dcterms:W3CDTF">2026-09-22T03:51:40Z</dcterms:modified>
</cp:coreProperties>
</file>